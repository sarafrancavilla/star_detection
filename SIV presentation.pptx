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0"/>
  </p:notesMasterIdLst>
  <p:sldIdLst>
    <p:sldId id="258" r:id="rId2"/>
    <p:sldId id="266" r:id="rId3"/>
    <p:sldId id="271" r:id="rId4"/>
    <p:sldId id="272" r:id="rId5"/>
    <p:sldId id="267" r:id="rId6"/>
    <p:sldId id="294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4" r:id="rId18"/>
    <p:sldId id="283" r:id="rId19"/>
    <p:sldId id="268" r:id="rId20"/>
    <p:sldId id="269" r:id="rId21"/>
    <p:sldId id="295" r:id="rId22"/>
    <p:sldId id="296" r:id="rId23"/>
    <p:sldId id="297" r:id="rId24"/>
    <p:sldId id="299" r:id="rId25"/>
    <p:sldId id="298" r:id="rId26"/>
    <p:sldId id="300" r:id="rId27"/>
    <p:sldId id="301" r:id="rId28"/>
    <p:sldId id="302" r:id="rId29"/>
    <p:sldId id="303" r:id="rId30"/>
    <p:sldId id="305" r:id="rId31"/>
    <p:sldId id="304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senza titolo" id="{B7820038-C63B-4D3A-8D62-49DFCE9FB48B}">
          <p14:sldIdLst>
            <p14:sldId id="258"/>
            <p14:sldId id="266"/>
            <p14:sldId id="271"/>
            <p14:sldId id="272"/>
            <p14:sldId id="267"/>
            <p14:sldId id="294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4"/>
            <p14:sldId id="283"/>
            <p14:sldId id="268"/>
            <p14:sldId id="269"/>
            <p14:sldId id="295"/>
            <p14:sldId id="296"/>
            <p14:sldId id="297"/>
            <p14:sldId id="299"/>
            <p14:sldId id="298"/>
            <p14:sldId id="300"/>
            <p14:sldId id="301"/>
            <p14:sldId id="302"/>
            <p14:sldId id="303"/>
            <p14:sldId id="305"/>
            <p14:sldId id="304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 Francavilla" initials="SF" lastIdx="1" clrIdx="0">
    <p:extLst>
      <p:ext uri="{19B8F6BF-5375-455C-9EA6-DF929625EA0E}">
        <p15:presenceInfo xmlns:p15="http://schemas.microsoft.com/office/powerpoint/2012/main" userId="acc8bfd056488ff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1906"/>
    <a:srgbClr val="1A1A18"/>
    <a:srgbClr val="E6E6E6"/>
    <a:srgbClr val="CEBB92"/>
    <a:srgbClr val="1F1F1F"/>
    <a:srgbClr val="ED1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3" autoAdjust="0"/>
    <p:restoredTop sz="94804" autoAdjust="0"/>
  </p:normalViewPr>
  <p:slideViewPr>
    <p:cSldViewPr snapToGrid="0">
      <p:cViewPr varScale="1">
        <p:scale>
          <a:sx n="81" d="100"/>
          <a:sy n="81" d="100"/>
        </p:scale>
        <p:origin x="8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F0240-1A18-4490-8926-2898403ABED4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8BEFF-6539-48B8-8806-A915A7A25AF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527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3301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EC403-2F2F-3F8A-E45C-731F1FE09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0A2E055-9E2D-DD9F-5F09-EDA73960A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111D81D-3728-7C07-AA72-4EAC30DF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957DAA1-8146-65D0-A2B0-46C17B099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273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B540B-603D-4C30-2DA0-A4085A464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05E118C-9DA9-66E1-56A7-7B49C9384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A073CBB-3042-F84D-3927-5EB872A55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011E45-5F3F-6CA2-F31E-EF032C495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7034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47269-C50C-425D-391A-1AB45F5C4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F974FE5-C055-8DEF-2625-614EF3C82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CC13D37-5E60-1E28-7AC3-7C989A929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8C5F7A5-4CD6-D04D-F4AB-954CCF018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5404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4984D-4254-1A6F-27B3-74145820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0DC698E-D168-BFCE-63A4-F5FF41880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9BDC5CE-821D-E6BF-599C-4768D2A85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8F7B4C-F498-0FA7-EF9B-EEEC23D56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2097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18EE8-B363-1135-4CEF-2EFEF5D17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CB9FE0C-E40C-E89B-08DE-C877745B5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D8FB277-891D-6A13-7281-842035D45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75B10B-6D82-6DAA-130C-69174E96C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9143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B70AA-7106-87B7-B595-D089366CF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BF4CAA5-D0DB-EF3E-A59F-891A2C573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80DA641-B9DC-79DE-30B8-FA67EFCF5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81ABEFC-A8CB-03D3-6063-AA6328DEF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4390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06047-4867-5410-DDA9-DD85B191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24331E0-23A8-CB18-581D-4D0ABCB23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5B4B58C-72D8-104A-004E-A316905FC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1C23DC-84AF-D4C9-F92B-037D161FBE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6620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2AEBA-9F67-E4B2-E52A-835F149EA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BB7A21A-E0A5-2167-612D-14923F3DC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FEA3A92-0B52-9483-BB30-2D4F25D89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9D0E1D-202C-9730-7145-DA27C752E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0535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8DAE6-3586-D99E-4456-5F9C8EB40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5DBD43F-BC50-47DE-83A7-E87996155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6258060-0C45-F868-F3F5-DC0A056D5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C00FFD-F71A-96F5-FA57-A2A042886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0612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7B331-68E9-94F0-0E9E-AC92266E2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6F6593-B5D5-D6CD-756E-1BEBFC446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B523AAB-2DB9-7701-90EE-84E5AFA97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AFBF89F-42F7-1B4D-3F73-3F5B9246D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7246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E2E7A-E933-B6BC-C8DD-9A6DB41A5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C63D5A5-B9F7-B878-5399-8442B01B2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7347226-37E6-74EB-8C78-CC9A2BAF3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2B32D55-F9B7-2A55-625F-CDC5600DC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5334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E7E10-C7B2-16BB-E41C-B79529767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012CCFC-9402-1399-8A8E-801A0BFF1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056856A-DB5D-265C-8215-336DD3426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B53F11-F321-6892-A182-DF15C4CFE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4683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59FB5-189A-5420-514F-3D4B32C6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676BC1A-09A5-FAE8-2F1A-6C406F2D8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93EB11F-2204-C0DA-8B14-E327167C7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3B2B19-9D00-1EC5-A8AB-C45AC6F4B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8134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79855-F9A7-5900-ACBF-D77E76A9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FF02371-F7FC-1C93-33A2-82C1AC8A0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7988BFE-7A74-B5E4-C9F9-9A0DBF134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704C3C-518E-933D-81B7-B086CC5F2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47206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16D96-77A4-FC1D-A1F4-D0C9A881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75975F2-2A5B-0784-4B89-BC94EAB72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165EF57-ADFF-90FD-CDC2-C0FC7C90C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64BD4DB-6E6B-3FEB-0FA8-97A5D7FEE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5788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C2684-4458-1281-1A53-DEE1D18AE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B19C8CA-98EA-0FEB-75E1-0DB2E5DA1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E82F932-12E8-9049-0B36-77D0C03B3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F88641C-3682-FE4D-66B2-C8A76E89E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29109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B1065-6D6F-9908-8E85-6919A7FE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BA91530-3E50-2EDE-4037-06CDBDD32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0463685-A9E2-B320-A746-8D923B7E1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AFA371F-3A6B-1774-D256-7F08BACC8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4365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703BC-DA00-0461-BA02-984ABA5A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D2C58AE-D365-B80A-2161-A7CCFB8CC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AA87EB3-CDD2-E43C-C143-0BE332C01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BA6B8E-CE97-88DF-9290-5CB08525D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35027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8DF5C-1182-7F67-E7ED-42766A393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A6357DD-A333-F59B-A6D4-E6D7347CD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2B8DB74-25E5-7B47-C225-EFBFFFE2E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623B94B-9BCB-8667-4506-17857A02E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93537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7A050-5157-6B09-5EFA-5DDC90E2B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0B80DAE-F514-C81C-F961-1C540044E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2B0CDD1-A395-7B39-02F6-EACF121FF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0F10341-DEA9-0005-E552-4582D54E1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4921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FCA04-1017-C534-58F1-FE82A92DA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BD01946-F304-0DD7-1F1E-9F43C5633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B12CCCF-74EA-F769-3FB8-EC95E61EA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041BE0F-831A-5B55-ECFB-73B7DFEF2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39286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9B40B-8A03-178C-DD40-70D32D398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6FEFBDB-6DD0-AAD0-6E57-07819D3BD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1A0AD54-2FB3-6274-938A-00D53FA52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0539950-2383-4641-577B-0653B6B40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78120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7B926-F11C-2DC6-A86F-327FB1243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B560FB3-F4B0-385B-D219-0C0FAF886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9F96D5F-641D-E016-55F7-7CAF464B3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EA5522F-C070-7AE9-17A0-51E73E137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73898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8F4D6-4507-BBE9-1CBB-76BF37DE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08449D8-BDA9-B194-7C3C-CAF804CE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1BBD67A-148F-36FD-E489-D7A73853F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56A527-7C1D-AC58-0475-7252F920B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19578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8F1AB-BF9D-08DF-6DC6-2AC3BF321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DA65059-024B-52B6-CB32-A59BC14CE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2DA23F5-7B0B-AD57-051A-B6CA5C099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2C0CDA3-9D25-A4E4-A119-53321DD94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34747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E045C-7AC0-348D-95BB-D409CC52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DF8EE22-0AD4-FA76-A8E5-1518339F4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D2669EB-350C-D4D4-F1CC-60AF27EE1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590EA67-E095-95BB-DCF9-0D168CF40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42009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D3CA-D382-1CC2-D21C-C2D5F21E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C3F8BA8-6AFB-B5E2-BB7E-2765ADC13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B0D189B-285C-557E-7F94-E18BE3637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062B745-F6DF-BFA8-FFBD-0FFF1BB7E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5243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12231-9BAE-1633-9ECE-133EF257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83BEECF-0791-9007-A07F-4F0BD6E00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6940D50-E794-FB44-2CDA-7B0E25999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0305443-EFCE-CD14-D335-77F3ADF7F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45250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4CC6A-80D2-CE5E-2FE0-EBB66DD67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B062BF0-89B5-4881-4D18-58F9A2895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7240E10-999C-B755-D8CE-170A6906F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DC843D9-BA3E-B67E-4006-CA40E67AB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68665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65F93-81EF-0A76-77BD-22DF132DB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2A3F848-DC66-25C6-B0D0-BF72E48EC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CC8C7CD-8A4A-9576-731A-CA9866153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05B584A-665E-99DD-A306-4BDCE4C76D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89116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4AC8C-25F7-76A8-AC9A-59C579B35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EA88F55-09A0-E579-325D-81ECB17DB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C22B93E-1CF4-4E8B-17D8-1399626E8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08A4678-EF1F-76C0-E8C5-B2DBDBD6C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64877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455D3-772C-8562-C4F1-48A4A6FE6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5A302AC-C72A-3B84-B797-5BC699EB6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E426841-61FC-CDDE-1E89-019BCEFBE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E2814C2-519A-C324-2B62-0CF0142E4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81992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AAE41-3600-9C8E-8DCB-E731E8BF1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453A6B4-4D44-350A-C998-B20B35244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71D29A1-D26F-B25B-3B89-BADE5EDF3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DB14200-1302-034E-5A54-42916F108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8228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F4995-18C1-0F1E-8591-569A4C2C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60D94EA-A55A-66CF-D223-BBE09B5AF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E0577B4-898E-9A78-2182-637A2BD89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ED8BB98-C378-E52E-5B6C-0401C604B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6798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2D6BC-B949-12B7-F60E-88A54252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D275DC9-4CCB-1D35-7A33-ADCEED89B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F0753C8-49DC-0DAB-4536-CB3B3CCFA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A3A9E2-AFD7-9E92-E45D-1B1408379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8601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E4A44-BFD3-B401-4108-C69CCF900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3E3713A-AE71-2096-8727-4E22D1A65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3C4A0DF-A0C2-7A6B-002F-92FC8844C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ABC123-E072-B823-B147-0C5B3F612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05756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C3B53-A50E-50AE-83E0-57C044382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CC09AD4-41F9-C033-4871-F03FCA832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4B390CE-0FA9-03CF-6963-8B2ADC74A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310B84-940E-3BF9-E988-94B218FB6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5092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D8E1D3-4F97-E949-176F-61EA27EAB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D90C8FD-E80E-3F96-045F-3FBEF9674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46E7CF-A86E-2F34-A223-F54E74DD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855906-352F-CA93-186C-11A63B3E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E2C882-8010-DABD-EB0E-E04087E1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7407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1D04A2-D44B-1FDB-6512-FA2E42BDE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ADC922-5C7E-8F4C-F81D-C2EBE2FB3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A782E5-C899-FAEB-DD3C-DC668EA5D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647BE0-39C6-235C-3F78-FDE1CBF62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1AF507-BA4F-6CF0-BEE6-4F77E4E5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8339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53085F-59C8-7C07-4025-6341088B7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79D52E9-17E2-83A1-03A8-DB4951693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61EA4E-9A66-F73E-E967-9CBFB1BD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4DA0D22-10CF-09BD-D4F7-74684B30F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D6E389-6B00-A3CA-8DE5-44A5850E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3971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DF4372-F82F-92D1-A684-DB96ACB04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579A48-13B6-A429-2467-173EDFE6F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511B7C1-FCCE-FE93-3C43-CC42AECDE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1A6E909-9BA0-CC56-5B8B-35C35FC7D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8FE0B2D-A0AF-2A9D-3DD1-F232589E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F0346D9-DEA5-06B1-5ECF-1A83D3BD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3737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A7BB89-BF26-1AB5-8C03-7C4960910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7B5E17E-2B3E-C456-6DD7-231831DC0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3393C07-9DE3-587F-1227-13BC5F8F8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B594DA9-F40D-8239-7C9E-3D75A3BF3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CABF6D1-5443-22A0-8E7C-4C7FF7CBD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58449E6-BD04-34E2-AE1D-F07586B69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04F0439-6585-7508-540B-A03F8552D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4E4543F-F441-7008-8C72-32586AC31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1109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9C909E-1796-77F8-BC5B-018F9D38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41F24E0-EB91-537E-864A-766774E41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3323E6E-308D-1928-18EC-0A3C7DA9A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B2F0DEA-089A-3EBA-C843-75ECC25D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2009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E6AD40A-52CE-1B97-FCAD-675524B00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B372A0B-687F-D1E7-FC42-C59D796A2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9CE3637-48C7-49E4-6363-70542C57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4722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98D092-9FB6-6174-931F-F80A41BE9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479F15-6A6D-FB91-50C6-DE78F3424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525E91F-E91B-D833-EF16-7F563942C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D781145-DE5C-873D-7FA1-4D0C85CC9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16A06D-F938-396C-08E8-0A84863F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A365B2D-18CB-4F79-042A-F7A5F573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1491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491E53-5AD9-7F53-FAC5-6D7853AD6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E752234-E53C-B531-61CA-5D05B8DC4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462AB4E-F869-26C5-70FA-454161251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2DE221B-99B0-E690-A8A5-E573CB48D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2E341A5-B58E-E42E-CA74-95AEA941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47AC5DD-8E5D-3BF8-8096-64C07F10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9037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D1FEFF-F841-17A7-C354-2E485C596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2C23FF2-F870-CFC4-2D5D-51FB541D7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5B1D45-47E9-4700-941B-1B0481F21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48969C-D406-28E7-A7C3-7D6C00A8F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DFD554D-8848-EC81-A512-CE2432380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7772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4D5A895-C180-16CD-847D-9756F5F12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4D86318-0065-4306-7C47-E02D1E856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DE40DB-77B5-EA16-8CA6-EAF3CA7F2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0CA7CE7-6735-472F-7384-603BC297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F11DFD-1C04-D7DC-6427-D6B008AF0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9132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FA795EF-4C8E-5EF5-63C0-6DD194F1C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5DB9841-A124-5522-6C3D-07363FF12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33D70D-0322-89D8-C28B-28D610308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250FC-F231-461D-ADAB-2129A5C8F0F0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4EAF129-22F4-FDF8-DA04-336F3B289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52917C-C715-033B-63DB-DDB54806C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118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3.png"/><Relationship Id="rId5" Type="http://schemas.openxmlformats.org/officeDocument/2006/relationships/image" Target="../media/image3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70.png"/><Relationship Id="rId5" Type="http://schemas.openxmlformats.org/officeDocument/2006/relationships/image" Target="../media/image3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41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C8ADBD09-73DF-A652-9FBB-83660367C98D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3523476-F4FD-D3B6-1215-35EEA511BA30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AE8635C2-3D5C-48FB-5893-318C77D14E0F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BE5EC911-70EB-FB6B-4785-90671830DBD9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58679977-C248-5C24-313F-03D81B1D51D5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7288E7C4-4CAF-1A97-0531-075609968F14}"/>
              </a:ext>
            </a:extLst>
          </p:cNvPr>
          <p:cNvSpPr txBox="1"/>
          <p:nvPr/>
        </p:nvSpPr>
        <p:spPr>
          <a:xfrm>
            <a:off x="6102733" y="4909267"/>
            <a:ext cx="57341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ook Antiqua" panose="02040602050305030304" pitchFamily="18" charset="0"/>
              </a:rPr>
              <a:t>The activities were divided into two distinct development areas, namely star detection and centroid localization with dataset generation, assigned respectively to Sara Francavilla and Andreea </a:t>
            </a:r>
            <a:r>
              <a:rPr lang="en-US" sz="1600" dirty="0" err="1">
                <a:latin typeface="Book Antiqua" panose="02040602050305030304" pitchFamily="18" charset="0"/>
              </a:rPr>
              <a:t>Pollastri</a:t>
            </a:r>
            <a:r>
              <a:rPr lang="en-US" sz="1600" dirty="0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9380F7A3-3B4D-1D20-0994-815895AC619A}"/>
              </a:ext>
            </a:extLst>
          </p:cNvPr>
          <p:cNvSpPr txBox="1"/>
          <p:nvPr/>
        </p:nvSpPr>
        <p:spPr>
          <a:xfrm>
            <a:off x="5566516" y="2827484"/>
            <a:ext cx="2747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Task Overview</a:t>
            </a:r>
            <a:r>
              <a:rPr lang="en-US" sz="18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: 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44EDF4AC-8D53-BE26-66ED-1E75099C2C8E}"/>
              </a:ext>
            </a:extLst>
          </p:cNvPr>
          <p:cNvSpPr txBox="1"/>
          <p:nvPr/>
        </p:nvSpPr>
        <p:spPr>
          <a:xfrm>
            <a:off x="6102733" y="3311200"/>
            <a:ext cx="5905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>
                <a:latin typeface="Book Antiqua" panose="02040602050305030304" pitchFamily="18" charset="0"/>
              </a:rPr>
              <a:t>Developing of an algorithm to overcome the star detection and centroid localization limitations of the open-source software LOST on a heterogeneous, noise-corrupted dataset.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F09102C8-01F9-FD60-14B3-C14A0707A9FA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5EF85FF8-FAA6-7389-E08B-28BB0A7E3D0A}"/>
              </a:ext>
            </a:extLst>
          </p:cNvPr>
          <p:cNvSpPr txBox="1"/>
          <p:nvPr/>
        </p:nvSpPr>
        <p:spPr>
          <a:xfrm>
            <a:off x="4468978" y="4092894"/>
            <a:ext cx="18207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LOST</a:t>
            </a:r>
            <a:endParaRPr lang="it-IT" sz="1050" b="1" dirty="0">
              <a:solidFill>
                <a:srgbClr val="002060"/>
              </a:solidFill>
            </a:endParaRP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FF836C75-BEE9-1808-0B5C-C5B9B0FFE6F6}"/>
              </a:ext>
            </a:extLst>
          </p:cNvPr>
          <p:cNvSpPr txBox="1"/>
          <p:nvPr/>
        </p:nvSpPr>
        <p:spPr>
          <a:xfrm>
            <a:off x="3540753" y="1354109"/>
            <a:ext cx="19393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Final Results</a:t>
            </a:r>
            <a:endParaRPr lang="it-IT" sz="1050" b="1" dirty="0">
              <a:solidFill>
                <a:srgbClr val="002060"/>
              </a:solidFill>
            </a:endParaRP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92F2AE6B-A4D0-CF70-EC06-A455D6B935BD}"/>
              </a:ext>
            </a:extLst>
          </p:cNvPr>
          <p:cNvSpPr txBox="1"/>
          <p:nvPr/>
        </p:nvSpPr>
        <p:spPr>
          <a:xfrm>
            <a:off x="-300537" y="1546410"/>
            <a:ext cx="19393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</a:t>
            </a:r>
            <a:endParaRPr lang="it-IT" sz="1050" b="1" dirty="0">
              <a:solidFill>
                <a:srgbClr val="002060"/>
              </a:solidFill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3882CED4-770F-718F-D659-79E4746A17A4}"/>
              </a:ext>
            </a:extLst>
          </p:cNvPr>
          <p:cNvSpPr txBox="1"/>
          <p:nvPr/>
        </p:nvSpPr>
        <p:spPr>
          <a:xfrm>
            <a:off x="-300537" y="5176879"/>
            <a:ext cx="19393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Dataset Structure</a:t>
            </a:r>
            <a:endParaRPr lang="it-IT" sz="1050" b="1" dirty="0">
              <a:solidFill>
                <a:srgbClr val="002060"/>
              </a:solidFill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4B19DF2D-02F5-1B31-D406-315BF53BFDF6}"/>
              </a:ext>
            </a:extLst>
          </p:cNvPr>
          <p:cNvSpPr txBox="1"/>
          <p:nvPr/>
        </p:nvSpPr>
        <p:spPr>
          <a:xfrm>
            <a:off x="2153294" y="5799519"/>
            <a:ext cx="19393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</a:t>
            </a:r>
            <a:endParaRPr lang="it-IT" sz="1050" b="1" dirty="0">
              <a:solidFill>
                <a:srgbClr val="002060"/>
              </a:solidFill>
            </a:endParaRPr>
          </a:p>
        </p:txBody>
      </p:sp>
      <p:cxnSp>
        <p:nvCxnSpPr>
          <p:cNvPr id="55" name="Connettore diritto 54">
            <a:extLst>
              <a:ext uri="{FF2B5EF4-FFF2-40B4-BE49-F238E27FC236}">
                <a16:creationId xmlns:a16="http://schemas.microsoft.com/office/drawing/2014/main" id="{A774C0AA-C2D5-1C75-6528-6BB0501B0FB1}"/>
              </a:ext>
            </a:extLst>
          </p:cNvPr>
          <p:cNvCxnSpPr>
            <a:stCxn id="50" idx="2"/>
          </p:cNvCxnSpPr>
          <p:nvPr/>
        </p:nvCxnSpPr>
        <p:spPr>
          <a:xfrm>
            <a:off x="669137" y="1800326"/>
            <a:ext cx="270725" cy="32598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diritto 55">
            <a:extLst>
              <a:ext uri="{FF2B5EF4-FFF2-40B4-BE49-F238E27FC236}">
                <a16:creationId xmlns:a16="http://schemas.microsoft.com/office/drawing/2014/main" id="{5CCB0FD3-9A38-4C05-7D62-27C912E6721D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4262080" y="1608025"/>
            <a:ext cx="248347" cy="27841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diritto 58">
            <a:extLst>
              <a:ext uri="{FF2B5EF4-FFF2-40B4-BE49-F238E27FC236}">
                <a16:creationId xmlns:a16="http://schemas.microsoft.com/office/drawing/2014/main" id="{763F5154-EE17-9F67-F59D-E4A43B5B1F7F}"/>
              </a:ext>
            </a:extLst>
          </p:cNvPr>
          <p:cNvCxnSpPr>
            <a:cxnSpLocks/>
          </p:cNvCxnSpPr>
          <p:nvPr/>
        </p:nvCxnSpPr>
        <p:spPr>
          <a:xfrm>
            <a:off x="4934527" y="3936696"/>
            <a:ext cx="515491" cy="14020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diritto 59">
            <a:extLst>
              <a:ext uri="{FF2B5EF4-FFF2-40B4-BE49-F238E27FC236}">
                <a16:creationId xmlns:a16="http://schemas.microsoft.com/office/drawing/2014/main" id="{0DF2887F-E92A-70FB-0526-65362436E05F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669137" y="4965954"/>
            <a:ext cx="349766" cy="210925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diritto 61">
            <a:extLst>
              <a:ext uri="{FF2B5EF4-FFF2-40B4-BE49-F238E27FC236}">
                <a16:creationId xmlns:a16="http://schemas.microsoft.com/office/drawing/2014/main" id="{92E14178-4551-F337-4BAF-2D14BCD4923B}"/>
              </a:ext>
            </a:extLst>
          </p:cNvPr>
          <p:cNvCxnSpPr>
            <a:cxnSpLocks/>
            <a:endCxn id="52" idx="0"/>
          </p:cNvCxnSpPr>
          <p:nvPr/>
        </p:nvCxnSpPr>
        <p:spPr>
          <a:xfrm flipH="1">
            <a:off x="3122968" y="5592016"/>
            <a:ext cx="264499" cy="20750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tangolo 14">
            <a:extLst>
              <a:ext uri="{FF2B5EF4-FFF2-40B4-BE49-F238E27FC236}">
                <a16:creationId xmlns:a16="http://schemas.microsoft.com/office/drawing/2014/main" id="{7A124FEF-D877-C79D-A4F3-AED4644ACCEF}"/>
              </a:ext>
            </a:extLst>
          </p:cNvPr>
          <p:cNvSpPr/>
          <p:nvPr/>
        </p:nvSpPr>
        <p:spPr>
          <a:xfrm>
            <a:off x="5043833" y="575300"/>
            <a:ext cx="7148167" cy="18774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 </a:t>
            </a:r>
            <a:endParaRPr lang="en-US" sz="48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in highly electrical and luminous noise systems</a:t>
            </a:r>
            <a:endParaRPr lang="en-US" sz="2000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70A6697-0B2E-3963-30DF-B53F0F4C4287}"/>
              </a:ext>
            </a:extLst>
          </p:cNvPr>
          <p:cNvSpPr txBox="1"/>
          <p:nvPr/>
        </p:nvSpPr>
        <p:spPr>
          <a:xfrm>
            <a:off x="5568084" y="4441027"/>
            <a:ext cx="2463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Work Division</a:t>
            </a:r>
            <a:r>
              <a:rPr lang="en-US" sz="18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: </a:t>
            </a: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42A1C197-59B0-0040-E828-2B62BDBC50D3}"/>
              </a:ext>
            </a:extLst>
          </p:cNvPr>
          <p:cNvGrpSpPr/>
          <p:nvPr/>
        </p:nvGrpSpPr>
        <p:grpSpPr>
          <a:xfrm>
            <a:off x="615159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0214945A-B601-8D4B-796B-08F4109FC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C4DD86AA-C244-0AFE-70FE-A59A785F5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71B5556F-3F80-C5E2-7738-063BFC25C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1F6DFC7F-15A8-F350-5326-AF19BEF7C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3C4ED143-9DA9-0FFE-90D6-13BADE07A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53A5F6A6-802F-FE13-B323-EB4C726E1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486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61CF7-67EC-5037-974E-92F39AD1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4799131E-9642-DC5E-9A68-096FA77493F9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51F98B4-1002-26A0-8180-FD943B9CD45D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AC729DD-2C95-0241-EFF5-C32FF384BC23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2E4FFDF2-3101-452E-53C8-23A92621F563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5C3E6501-CFE0-FD2E-BDBB-F5DFB9F2BA91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5E747477-21D6-E585-356B-5B603EAB4FF8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209DA3E-29C2-A57B-92E5-BF5228E3AAA7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61CD00D7-73C8-F736-4E82-1DBA34A56F5E}"/>
              </a:ext>
            </a:extLst>
          </p:cNvPr>
          <p:cNvGrpSpPr/>
          <p:nvPr/>
        </p:nvGrpSpPr>
        <p:grpSpPr>
          <a:xfrm rot="18397887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7E3ABD34-92B9-D4B0-D428-CA3018198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FF2EFDAF-CD2D-16BA-07B3-E5D5D119F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7CE7EA08-1D6E-9D34-D6E9-382826681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4D755813-5ACA-402F-9D55-5FC1E3580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61E81728-B53A-3729-8CAC-7B9B6B638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8A2122AC-A7F0-D28B-2DAF-C3EA152AF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83C4637-80CC-51A0-CF20-CA56ACE1307F}"/>
              </a:ext>
            </a:extLst>
          </p:cNvPr>
          <p:cNvSpPr txBox="1"/>
          <p:nvPr/>
        </p:nvSpPr>
        <p:spPr>
          <a:xfrm>
            <a:off x="5265083" y="874702"/>
            <a:ext cx="5524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LOST: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   </a:t>
            </a:r>
            <a:r>
              <a:rPr lang="en-US" sz="2400" b="1" dirty="0">
                <a:solidFill>
                  <a:srgbClr val="002060"/>
                </a:solidFill>
                <a:latin typeface="Book Antiqua" panose="02040602050305030304" pitchFamily="18" charset="0"/>
              </a:rPr>
              <a:t>A general view</a:t>
            </a:r>
            <a:endParaRPr lang="en-US" sz="2800" b="1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DA40F02D-3410-0E9B-1802-16234DB0FC9D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A7A5EFF-697B-317F-13B1-E02F229D8D99}"/>
              </a:ext>
            </a:extLst>
          </p:cNvPr>
          <p:cNvSpPr txBox="1"/>
          <p:nvPr/>
        </p:nvSpPr>
        <p:spPr>
          <a:xfrm>
            <a:off x="5309573" y="1585119"/>
            <a:ext cx="5905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it-IT" sz="1600" dirty="0">
                <a:latin typeface="Book Antiqua" panose="02040602050305030304" pitchFamily="18" charset="0"/>
              </a:rPr>
              <a:t>Standing for Low-cost Open-Source Star Tracker, </a:t>
            </a:r>
            <a:r>
              <a:rPr lang="it-IT" sz="1600" dirty="0" err="1">
                <a:latin typeface="Book Antiqua" panose="02040602050305030304" pitchFamily="18" charset="0"/>
              </a:rPr>
              <a:t>it</a:t>
            </a:r>
            <a:r>
              <a:rPr lang="it-IT" sz="1600" dirty="0">
                <a:latin typeface="Book Antiqua" panose="02040602050305030304" pitchFamily="18" charset="0"/>
              </a:rPr>
              <a:t> </a:t>
            </a:r>
            <a:r>
              <a:rPr lang="en-US" sz="1600" dirty="0">
                <a:latin typeface="Book Antiqua" panose="02040602050305030304" pitchFamily="18" charset="0"/>
              </a:rPr>
              <a:t>is an open-source software suite for star tracking, developed for use on small, low-power, low-cost satellites like CubeSats. 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C7931CD-A82D-3583-897D-0B8C1195057E}"/>
              </a:ext>
            </a:extLst>
          </p:cNvPr>
          <p:cNvSpPr txBox="1"/>
          <p:nvPr/>
        </p:nvSpPr>
        <p:spPr>
          <a:xfrm>
            <a:off x="3521644" y="2717973"/>
            <a:ext cx="7880451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>
                <a:latin typeface="Book Antiqua" panose="02040602050305030304" pitchFamily="18" charset="0"/>
              </a:rPr>
              <a:t>More specifically: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Generates synthetic star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Detects stars in real and synthetic images using </a:t>
            </a:r>
            <a:r>
              <a:rPr lang="en-US" sz="1600" b="1" dirty="0">
                <a:solidFill>
                  <a:srgbClr val="002060"/>
                </a:solidFill>
                <a:latin typeface="Book Antiqua" panose="02040602050305030304" pitchFamily="18" charset="0"/>
              </a:rPr>
              <a:t>classic image segmentation and thresholding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Computes Centroids position based on a </a:t>
            </a:r>
            <a:r>
              <a:rPr lang="en-US" sz="1600" b="1" dirty="0">
                <a:solidFill>
                  <a:srgbClr val="002060"/>
                </a:solidFill>
                <a:latin typeface="Book Antiqua" panose="02040602050305030304" pitchFamily="18" charset="0"/>
              </a:rPr>
              <a:t>weighted average of pixel intensities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Identifies them through an onboard catalog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Determines spacecraft attitude</a:t>
            </a:r>
          </a:p>
          <a:p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3113511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4BEFA-CD95-C36A-086C-907AB14B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magine 27" descr="Immagine che contiene schermata, testo, stella, spazio&#10;&#10;Il contenuto generato dall'IA potrebbe non essere corretto.">
            <a:extLst>
              <a:ext uri="{FF2B5EF4-FFF2-40B4-BE49-F238E27FC236}">
                <a16:creationId xmlns:a16="http://schemas.microsoft.com/office/drawing/2014/main" id="{F2ADFF8E-58C4-FDA1-1F98-72D2C99B95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45" b="29396"/>
          <a:stretch>
            <a:fillRect/>
          </a:stretch>
        </p:blipFill>
        <p:spPr>
          <a:xfrm>
            <a:off x="2764159" y="4310441"/>
            <a:ext cx="4776223" cy="1855034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F1874FD2-660A-9FF1-5E08-CB911D41BAF4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C0BB3C3-2379-BB66-7D07-E29546ED7E10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2F4F41A2-A022-BB64-1B06-56AE616D331F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C4BA9AED-5F8C-24F4-6F6A-3FA60BE2E099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6B6938F0-202B-FE41-A8E6-BE01904CDDAC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9EF2CE3E-075E-13D8-29B5-1FDDD7CDB3B2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0C78556-4F92-D409-F59B-3C82F3D690A1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D3200A14-A245-2882-EB3E-20F85A6A2E81}"/>
              </a:ext>
            </a:extLst>
          </p:cNvPr>
          <p:cNvGrpSpPr/>
          <p:nvPr/>
        </p:nvGrpSpPr>
        <p:grpSpPr>
          <a:xfrm rot="18397887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3174761F-DCAF-17CE-AA77-BC4304D16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06152382-8E90-0639-501E-D06E41354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83571C1D-5579-962A-E3E0-A5CF8E5FA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D074C10E-1A93-9B19-4853-3B22691D5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B243D66F-B72C-3518-3679-6B7BD3027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4DD0C7C9-98FA-E891-4085-8C8F928EE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97D1DC7-45F9-6D99-646D-BB52AF7BFA56}"/>
              </a:ext>
            </a:extLst>
          </p:cNvPr>
          <p:cNvSpPr txBox="1"/>
          <p:nvPr/>
        </p:nvSpPr>
        <p:spPr>
          <a:xfrm>
            <a:off x="5265083" y="874702"/>
            <a:ext cx="617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LOST: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Book Antiqua" panose="02040602050305030304" pitchFamily="18" charset="0"/>
              </a:rPr>
              <a:t>Approaches</a:t>
            </a:r>
            <a:endParaRPr lang="en-US" sz="2800" b="1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4A815D27-6034-979E-97D8-99214A96FFAA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9E5E40F-0542-C2BE-9B06-86485F4951B4}"/>
              </a:ext>
            </a:extLst>
          </p:cNvPr>
          <p:cNvSpPr txBox="1"/>
          <p:nvPr/>
        </p:nvSpPr>
        <p:spPr>
          <a:xfrm>
            <a:off x="3101855" y="1810329"/>
            <a:ext cx="44291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Pixels with intensity above a fixed threshold are selected.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Adjacent bright pixels are grouped into connected components (blobs).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Each blob is treated as a star candidate.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AE31479-46DC-92A1-C3EC-E88C0E6251B3}"/>
              </a:ext>
            </a:extLst>
          </p:cNvPr>
          <p:cNvSpPr txBox="1"/>
          <p:nvPr/>
        </p:nvSpPr>
        <p:spPr>
          <a:xfrm>
            <a:off x="7624498" y="1796492"/>
            <a:ext cx="42088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Uses a </a:t>
            </a:r>
            <a:r>
              <a:rPr lang="en-US" sz="1600" b="1" dirty="0">
                <a:latin typeface="Book Antiqua" panose="02040602050305030304" pitchFamily="18" charset="0"/>
              </a:rPr>
              <a:t>center-of-gravity (intensity-weighted average)</a:t>
            </a:r>
            <a:r>
              <a:rPr lang="en-US" sz="1600" dirty="0">
                <a:latin typeface="Book Antiqua" panose="02040602050305030304" pitchFamily="18" charset="0"/>
              </a:rPr>
              <a:t> over the detected star blob.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Assumes stars are </a:t>
            </a:r>
            <a:r>
              <a:rPr lang="en-US" sz="1600" b="1" dirty="0">
                <a:latin typeface="Book Antiqua" panose="02040602050305030304" pitchFamily="18" charset="0"/>
              </a:rPr>
              <a:t>compact and approximately symmetric</a:t>
            </a:r>
            <a:r>
              <a:rPr lang="en-US" sz="1600" dirty="0">
                <a:latin typeface="Book Antiqua" panose="0204060205030503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Centroid accuracy depends strongly on the </a:t>
            </a:r>
            <a:r>
              <a:rPr lang="en-US" sz="1600" b="1" dirty="0">
                <a:latin typeface="Book Antiqua" panose="02040602050305030304" pitchFamily="18" charset="0"/>
              </a:rPr>
              <a:t>quality of star detection</a:t>
            </a:r>
            <a:r>
              <a:rPr lang="en-US" sz="1600" dirty="0">
                <a:latin typeface="Book Antiqua" panose="02040602050305030304" pitchFamily="18" charset="0"/>
              </a:rPr>
              <a:t> and on </a:t>
            </a:r>
            <a:r>
              <a:rPr lang="en-US" sz="1600" b="1" dirty="0">
                <a:latin typeface="Book Antiqua" panose="02040602050305030304" pitchFamily="18" charset="0"/>
              </a:rPr>
              <a:t>noise contamination</a:t>
            </a:r>
            <a:r>
              <a:rPr lang="en-US" sz="1600" dirty="0">
                <a:latin typeface="Book Antiqua" panose="02040602050305030304" pitchFamily="18" charset="0"/>
              </a:rPr>
              <a:t> within the blob.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FBF61B9C-12E0-AED8-8A79-48683701039F}"/>
              </a:ext>
            </a:extLst>
          </p:cNvPr>
          <p:cNvSpPr/>
          <p:nvPr/>
        </p:nvSpPr>
        <p:spPr>
          <a:xfrm>
            <a:off x="7489381" y="1880001"/>
            <a:ext cx="45719" cy="469804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0" name="Immagine 29" descr="Immagine che contiene schermata, cerchio, spaz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0499641B-9CAB-1A96-B969-96AA89F6200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1266" t="3077" r="28755" b="11018"/>
          <a:stretch>
            <a:fillRect/>
          </a:stretch>
        </p:blipFill>
        <p:spPr>
          <a:xfrm>
            <a:off x="8712450" y="4229025"/>
            <a:ext cx="2095824" cy="200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46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506CD-63CA-E4E1-95DC-D5DD6ECA9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29FABE36-BC35-4DDA-42A5-883FE9B0B049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A1CE568-FD3D-2024-BB08-BFE3C0F27481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BF4FEA66-FB9D-4FF6-BA7B-6FA005FFD4B6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9247650F-590E-76AD-98E7-CBF190EDC8D0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DC2C25E1-FCAF-2694-6C2E-5E13D644C100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719A1059-6418-D1AE-1BE3-5F790D0D5FA5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FCC2A77-BAFB-5B05-44F5-79BB38F98210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2AE1422E-3216-0406-C972-E2B60432BED0}"/>
              </a:ext>
            </a:extLst>
          </p:cNvPr>
          <p:cNvGrpSpPr/>
          <p:nvPr/>
        </p:nvGrpSpPr>
        <p:grpSpPr>
          <a:xfrm rot="18397887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B14DFE5E-90C5-F9DE-E20F-2EFB7B002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60F0B0DF-0F5E-12BE-0DCA-FC424557D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6C166828-5D6E-0F41-F472-478374EA8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FC8C0C6E-1DF3-44C2-43F6-C92D1DB77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8EC878E5-378A-20AE-518B-C2043A0C3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1EA7E161-E60F-ACF4-DEDB-CA7E53804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D369C13-E522-ED07-0DA2-841694F66EE5}"/>
              </a:ext>
            </a:extLst>
          </p:cNvPr>
          <p:cNvSpPr txBox="1"/>
          <p:nvPr/>
        </p:nvSpPr>
        <p:spPr>
          <a:xfrm>
            <a:off x="5265083" y="874702"/>
            <a:ext cx="617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LOST: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Book Antiqua" panose="02040602050305030304" pitchFamily="18" charset="0"/>
              </a:rPr>
              <a:t>Limitations</a:t>
            </a:r>
            <a:endParaRPr lang="en-US" sz="2800" b="1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32A84B95-AC58-C7AE-FA4B-50503C0826B2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2590702-30F2-BDAE-04B5-E8EF6C264833}"/>
              </a:ext>
            </a:extLst>
          </p:cNvPr>
          <p:cNvSpPr txBox="1"/>
          <p:nvPr/>
        </p:nvSpPr>
        <p:spPr>
          <a:xfrm>
            <a:off x="3316007" y="1782469"/>
            <a:ext cx="39131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Noise peaks often incorrectly detected as star candidates.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No Gaussian shape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Performance degrades in the presence of strong noise or elongated (stretched) stars.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D8DBB68-99F7-1C3D-8535-0DB40ABDF7C5}"/>
              </a:ext>
            </a:extLst>
          </p:cNvPr>
          <p:cNvSpPr txBox="1"/>
          <p:nvPr/>
        </p:nvSpPr>
        <p:spPr>
          <a:xfrm>
            <a:off x="7287060" y="1803156"/>
            <a:ext cx="42088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Background noise and dark current </a:t>
            </a:r>
            <a:r>
              <a:rPr lang="en-US" sz="1600" b="1" dirty="0">
                <a:latin typeface="Book Antiqua" panose="02040602050305030304" pitchFamily="18" charset="0"/>
              </a:rPr>
              <a:t>bias the centroid</a:t>
            </a:r>
            <a:r>
              <a:rPr lang="en-US" sz="1600" dirty="0">
                <a:latin typeface="Book Antiqua" panose="02040602050305030304" pitchFamily="18" charset="0"/>
              </a:rPr>
              <a:t> toward brighter noise pixels.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Blurred or elongated stars produce </a:t>
            </a:r>
            <a:r>
              <a:rPr lang="en-US" sz="1600" b="1" dirty="0">
                <a:latin typeface="Book Antiqua" panose="02040602050305030304" pitchFamily="18" charset="0"/>
              </a:rPr>
              <a:t>systematic centroid shifts</a:t>
            </a:r>
            <a:r>
              <a:rPr lang="en-US" sz="1600" dirty="0">
                <a:latin typeface="Book Antiqua" panose="0204060205030503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No explicit modeling of the </a:t>
            </a:r>
            <a:r>
              <a:rPr lang="en-US" sz="1600" b="1" dirty="0">
                <a:latin typeface="Book Antiqua" panose="02040602050305030304" pitchFamily="18" charset="0"/>
              </a:rPr>
              <a:t>star intensity distribution</a:t>
            </a:r>
            <a:r>
              <a:rPr lang="en-US" sz="1600" dirty="0">
                <a:latin typeface="Book Antiqua" panose="02040602050305030304" pitchFamily="18" charset="0"/>
              </a:rPr>
              <a:t> or noise statistics.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AFFB6BD5-CA9E-EB3A-8017-06241B38423B}"/>
              </a:ext>
            </a:extLst>
          </p:cNvPr>
          <p:cNvSpPr/>
          <p:nvPr/>
        </p:nvSpPr>
        <p:spPr>
          <a:xfrm>
            <a:off x="7232472" y="1805979"/>
            <a:ext cx="54588" cy="45205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25F4943A-7B63-528F-CE10-B02B0F5438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113"/>
          <a:stretch>
            <a:fillRect/>
          </a:stretch>
        </p:blipFill>
        <p:spPr>
          <a:xfrm>
            <a:off x="2566302" y="4216389"/>
            <a:ext cx="1707067" cy="2445005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0983FFD9-3241-A4E0-F418-C572B68785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35"/>
          <a:stretch>
            <a:fillRect/>
          </a:stretch>
        </p:blipFill>
        <p:spPr>
          <a:xfrm>
            <a:off x="5618763" y="4320379"/>
            <a:ext cx="1685314" cy="2387202"/>
          </a:xfrm>
          <a:prstGeom prst="rect">
            <a:avLst/>
          </a:prstGeom>
        </p:spPr>
      </p:pic>
      <p:pic>
        <p:nvPicPr>
          <p:cNvPr id="31" name="Immagine 30">
            <a:extLst>
              <a:ext uri="{FF2B5EF4-FFF2-40B4-BE49-F238E27FC236}">
                <a16:creationId xmlns:a16="http://schemas.microsoft.com/office/drawing/2014/main" id="{4097C110-4C8B-8710-472D-21DC610684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61" r="33431"/>
          <a:stretch>
            <a:fillRect/>
          </a:stretch>
        </p:blipFill>
        <p:spPr>
          <a:xfrm>
            <a:off x="4215179" y="2973463"/>
            <a:ext cx="1580427" cy="2335293"/>
          </a:xfrm>
          <a:prstGeom prst="rect">
            <a:avLst/>
          </a:prstGeom>
        </p:spPr>
      </p:pic>
      <p:pic>
        <p:nvPicPr>
          <p:cNvPr id="32" name="Immagine 31">
            <a:extLst>
              <a:ext uri="{FF2B5EF4-FFF2-40B4-BE49-F238E27FC236}">
                <a16:creationId xmlns:a16="http://schemas.microsoft.com/office/drawing/2014/main" id="{7DA460FE-03D7-C7D9-B893-22F2DC5133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67" t="12901"/>
          <a:stretch>
            <a:fillRect/>
          </a:stretch>
        </p:blipFill>
        <p:spPr>
          <a:xfrm rot="16200000">
            <a:off x="8409879" y="3491471"/>
            <a:ext cx="2431638" cy="303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17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2FF29-05BB-F8C9-3691-8320B62F1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A22C8D02-2C2F-924E-24C6-03D0E65BF137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3E55C4B7-CA3F-D357-DB83-C38AFE936099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11E22C56-E218-A0A4-47D9-2AAB6D09EFA6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D395D2D2-9C1B-46C5-2872-A13B96F9BD1F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48B46C12-A4CD-F89A-734A-C86339D1915A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D9116C20-9C76-F3DC-29CB-AF1254F9ACF4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C456909A-82B4-86DB-FC6E-53B29B0CE520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1B09D369-3CE9-1FA7-A41D-2C3BD683B9A4}"/>
              </a:ext>
            </a:extLst>
          </p:cNvPr>
          <p:cNvGrpSpPr/>
          <p:nvPr/>
        </p:nvGrpSpPr>
        <p:grpSpPr>
          <a:xfrm rot="13500013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6BA3FF5D-ECC0-EEF1-2A73-6F129D22E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233EFF53-13A7-9516-7F38-509A59A07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DB697208-B14C-3EA6-8C66-F8C695C77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98E5FAD2-5DB5-9C8B-C45D-C0DF283A8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7388BC1D-EB7F-EB22-3311-02789DE24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617CB5CC-3CF6-674C-DF0C-21B9E1AB7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7029ABD-71A5-BB50-8539-72D29705FB03}"/>
              </a:ext>
            </a:extLst>
          </p:cNvPr>
          <p:cNvSpPr txBox="1"/>
          <p:nvPr/>
        </p:nvSpPr>
        <p:spPr>
          <a:xfrm>
            <a:off x="3942019" y="640530"/>
            <a:ext cx="793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Study Images and Characteristics </a:t>
            </a:r>
            <a:r>
              <a:rPr lang="en-US" sz="32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DE0506A0-7E86-EA16-69AC-C121D77B6019}"/>
              </a:ext>
            </a:extLst>
          </p:cNvPr>
          <p:cNvCxnSpPr>
            <a:cxnSpLocks/>
          </p:cNvCxnSpPr>
          <p:nvPr/>
        </p:nvCxnSpPr>
        <p:spPr>
          <a:xfrm flipV="1">
            <a:off x="2304339" y="1174071"/>
            <a:ext cx="1753026" cy="66003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magine 16">
            <a:extLst>
              <a:ext uri="{FF2B5EF4-FFF2-40B4-BE49-F238E27FC236}">
                <a16:creationId xmlns:a16="http://schemas.microsoft.com/office/drawing/2014/main" id="{CEDDE33D-E0C8-120F-52E1-9C5AC119FB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441" y="2990581"/>
            <a:ext cx="2263979" cy="2263979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6EDDDD3D-B5EF-F2E5-CC9E-FC157D5E43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072" y="1834107"/>
            <a:ext cx="2081613" cy="2081613"/>
          </a:xfrm>
          <a:prstGeom prst="rect">
            <a:avLst/>
          </a:prstGeom>
        </p:spPr>
      </p:pic>
      <p:pic>
        <p:nvPicPr>
          <p:cNvPr id="35" name="Immagine 34">
            <a:extLst>
              <a:ext uri="{FF2B5EF4-FFF2-40B4-BE49-F238E27FC236}">
                <a16:creationId xmlns:a16="http://schemas.microsoft.com/office/drawing/2014/main" id="{BC286C9E-D029-DF18-7646-9FBDEF9F5A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217" y="1840588"/>
            <a:ext cx="2081613" cy="2081613"/>
          </a:xfrm>
          <a:prstGeom prst="rect">
            <a:avLst/>
          </a:prstGeom>
        </p:spPr>
      </p:pic>
      <p:pic>
        <p:nvPicPr>
          <p:cNvPr id="36" name="Immagine 35">
            <a:extLst>
              <a:ext uri="{FF2B5EF4-FFF2-40B4-BE49-F238E27FC236}">
                <a16:creationId xmlns:a16="http://schemas.microsoft.com/office/drawing/2014/main" id="{01B199EA-4961-7C41-35F4-7F467971496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362" y="1840588"/>
            <a:ext cx="2081613" cy="2081613"/>
          </a:xfrm>
          <a:prstGeom prst="rect">
            <a:avLst/>
          </a:prstGeom>
        </p:spPr>
      </p:pic>
      <p:pic>
        <p:nvPicPr>
          <p:cNvPr id="37" name="Immagine 36">
            <a:extLst>
              <a:ext uri="{FF2B5EF4-FFF2-40B4-BE49-F238E27FC236}">
                <a16:creationId xmlns:a16="http://schemas.microsoft.com/office/drawing/2014/main" id="{C945CF9E-E0A9-807B-5B1A-9E27E281856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072" y="4326903"/>
            <a:ext cx="2081613" cy="2081613"/>
          </a:xfrm>
          <a:prstGeom prst="rect">
            <a:avLst/>
          </a:prstGeom>
        </p:spPr>
      </p:pic>
      <p:pic>
        <p:nvPicPr>
          <p:cNvPr id="38" name="Immagine 37">
            <a:extLst>
              <a:ext uri="{FF2B5EF4-FFF2-40B4-BE49-F238E27FC236}">
                <a16:creationId xmlns:a16="http://schemas.microsoft.com/office/drawing/2014/main" id="{6698CCBC-ABBC-D056-E841-42713336F07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217" y="4326903"/>
            <a:ext cx="2081613" cy="2081613"/>
          </a:xfrm>
          <a:prstGeom prst="rect">
            <a:avLst/>
          </a:prstGeom>
        </p:spPr>
      </p:pic>
      <p:pic>
        <p:nvPicPr>
          <p:cNvPr id="39" name="Immagine 38">
            <a:extLst>
              <a:ext uri="{FF2B5EF4-FFF2-40B4-BE49-F238E27FC236}">
                <a16:creationId xmlns:a16="http://schemas.microsoft.com/office/drawing/2014/main" id="{B609AC6E-AF99-8D73-71C1-B14235D9645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361" y="4326903"/>
            <a:ext cx="2081613" cy="208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22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418E0-55A6-3F32-F038-67BCB47CE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magine 22">
            <a:extLst>
              <a:ext uri="{FF2B5EF4-FFF2-40B4-BE49-F238E27FC236}">
                <a16:creationId xmlns:a16="http://schemas.microsoft.com/office/drawing/2014/main" id="{ED9B1BA9-E8D5-17AD-E24C-61F7A8F33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579" y="1286861"/>
            <a:ext cx="5869518" cy="5607758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A10953A7-7191-24F3-0487-CF94EF17961F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4EBF7F4-0803-283C-470C-C6B77F333BDA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58377B7B-C2EE-733C-595A-9A0C6256FC06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BEC531C5-BD65-40BE-746E-511F11E8D7E8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5FE24415-D311-63A7-02DA-01FF9894F62F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6E6F55B6-4A2D-EE85-2C85-45EA953BAA8A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244A2D58-B89E-0566-8367-2968AD489F6D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0E9BC180-4B40-6AD1-B5B1-193523988058}"/>
              </a:ext>
            </a:extLst>
          </p:cNvPr>
          <p:cNvGrpSpPr/>
          <p:nvPr/>
        </p:nvGrpSpPr>
        <p:grpSpPr>
          <a:xfrm rot="13500013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F93EAD79-DD6A-D6A0-3A2C-D2F23F27D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F2A17D6C-806B-97CF-941A-8DF674F68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0DBAC950-F42A-440E-A44C-4672F9DDD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ED70E3E4-1AB8-2666-3D45-E2FEFF3E9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AE798F9A-D7E1-BBAB-283E-91AD34876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F95551FD-3B16-8D50-F16E-40A304370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91707B9-FD22-EA22-31D9-AFEA86035479}"/>
              </a:ext>
            </a:extLst>
          </p:cNvPr>
          <p:cNvSpPr txBox="1"/>
          <p:nvPr/>
        </p:nvSpPr>
        <p:spPr>
          <a:xfrm>
            <a:off x="3942019" y="640530"/>
            <a:ext cx="793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Study Images and Characteristics </a:t>
            </a:r>
            <a:r>
              <a:rPr lang="en-US" sz="32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FD77BE54-85B4-C8D5-FD61-3248B11FE54B}"/>
              </a:ext>
            </a:extLst>
          </p:cNvPr>
          <p:cNvCxnSpPr>
            <a:cxnSpLocks/>
          </p:cNvCxnSpPr>
          <p:nvPr/>
        </p:nvCxnSpPr>
        <p:spPr>
          <a:xfrm flipV="1">
            <a:off x="2304339" y="1174071"/>
            <a:ext cx="1753026" cy="66003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magine 16">
            <a:extLst>
              <a:ext uri="{FF2B5EF4-FFF2-40B4-BE49-F238E27FC236}">
                <a16:creationId xmlns:a16="http://schemas.microsoft.com/office/drawing/2014/main" id="{FCB3769E-C928-F9C6-3274-4B6B281324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943" y="2509258"/>
            <a:ext cx="2263979" cy="2263979"/>
          </a:xfrm>
          <a:prstGeom prst="rect">
            <a:avLst/>
          </a:prstGeom>
        </p:spPr>
      </p:pic>
      <p:sp>
        <p:nvSpPr>
          <p:cNvPr id="24" name="Freccia a destra 23">
            <a:extLst>
              <a:ext uri="{FF2B5EF4-FFF2-40B4-BE49-F238E27FC236}">
                <a16:creationId xmlns:a16="http://schemas.microsoft.com/office/drawing/2014/main" id="{99B222C6-C4E7-487E-5898-61867CBCB711}"/>
              </a:ext>
            </a:extLst>
          </p:cNvPr>
          <p:cNvSpPr/>
          <p:nvPr/>
        </p:nvSpPr>
        <p:spPr>
          <a:xfrm>
            <a:off x="5825935" y="3524632"/>
            <a:ext cx="270065" cy="276999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490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AC7C6-54C3-DCA5-ABA3-4A657DE2D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217B46EA-64AB-DA88-8318-75E6C6CF7DF7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69EF0C5-39AB-904E-01D4-EBC1273C5892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628A841D-D2EF-3C13-4FA5-F604A968DEF0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8C56DE83-B0B6-0AA8-B6B8-A19810A8553F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B567D01B-64C5-2B65-310A-49E69DFB74E4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839C1EC0-CE5B-A1E9-4D01-C4920EDEAD59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86DDECA-4F91-24D3-2454-DEF087E47627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C8E59434-824F-D016-B888-2274E97B6F3D}"/>
              </a:ext>
            </a:extLst>
          </p:cNvPr>
          <p:cNvGrpSpPr/>
          <p:nvPr/>
        </p:nvGrpSpPr>
        <p:grpSpPr>
          <a:xfrm rot="13500013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24D0624B-148D-95F8-7968-20F917CBF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A185EC4C-8142-65D7-8E36-498DFD8700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2D613B97-2905-29DA-3FB5-D7A7BEB36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8B08EF41-C587-99A9-8C2F-D06B98ECF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F6D699FF-8DAB-4B1E-8FC4-DAC0AE58D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1A95E6BC-56D4-BA3D-5C8B-292393E6F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74A00CB-6BB5-2878-8621-87FE34C7724E}"/>
              </a:ext>
            </a:extLst>
          </p:cNvPr>
          <p:cNvSpPr txBox="1"/>
          <p:nvPr/>
        </p:nvSpPr>
        <p:spPr>
          <a:xfrm>
            <a:off x="3942019" y="640530"/>
            <a:ext cx="793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Setting Threshold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pic>
        <p:nvPicPr>
          <p:cNvPr id="5" name="Immagine 4" descr="Immagine che contiene testo, diagramma, Piano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9E3A9AA7-91CC-ED54-C9D5-63DDFF81E7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98991" y="1692140"/>
            <a:ext cx="5684481" cy="4525330"/>
          </a:xfrm>
          <a:prstGeom prst="rect">
            <a:avLst/>
          </a:prstGeom>
        </p:spPr>
      </p:pic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FF149E23-24BD-3F99-E757-88BE1ABC810A}"/>
              </a:ext>
            </a:extLst>
          </p:cNvPr>
          <p:cNvSpPr/>
          <p:nvPr/>
        </p:nvSpPr>
        <p:spPr>
          <a:xfrm>
            <a:off x="8964585" y="3491069"/>
            <a:ext cx="270065" cy="276999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48B649E-4108-3BE9-B0BA-A3A158704FC2}"/>
              </a:ext>
            </a:extLst>
          </p:cNvPr>
          <p:cNvSpPr txBox="1"/>
          <p:nvPr/>
        </p:nvSpPr>
        <p:spPr>
          <a:xfrm>
            <a:off x="9419047" y="2505626"/>
            <a:ext cx="250357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ook Antiqua" panose="02040602050305030304" pitchFamily="18" charset="0"/>
              </a:rPr>
              <a:t>80% background</a:t>
            </a:r>
          </a:p>
          <a:p>
            <a:r>
              <a:rPr lang="it-IT" sz="1400" dirty="0">
                <a:latin typeface="Book Antiqua" panose="02040602050305030304" pitchFamily="18" charset="0"/>
              </a:rPr>
              <a:t>Ground Truth: 322</a:t>
            </a:r>
          </a:p>
          <a:p>
            <a:endParaRPr lang="it-IT" sz="14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Book Antiqua" panose="02040602050305030304" pitchFamily="18" charset="0"/>
              </a:rPr>
              <a:t>Image1 – 312 </a:t>
            </a:r>
            <a:r>
              <a:rPr lang="it-IT" sz="1400" dirty="0" err="1">
                <a:latin typeface="Book Antiqua" panose="02040602050305030304" pitchFamily="18" charset="0"/>
              </a:rPr>
              <a:t>peaks</a:t>
            </a:r>
            <a:endParaRPr lang="it-IT" sz="14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Book Antiqua" panose="02040602050305030304" pitchFamily="18" charset="0"/>
              </a:rPr>
              <a:t>Image2 – 312 </a:t>
            </a:r>
            <a:r>
              <a:rPr lang="it-IT" sz="1400" dirty="0" err="1">
                <a:latin typeface="Book Antiqua" panose="02040602050305030304" pitchFamily="18" charset="0"/>
              </a:rPr>
              <a:t>peaks</a:t>
            </a:r>
            <a:endParaRPr lang="it-IT" sz="14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Book Antiqua" panose="02040602050305030304" pitchFamily="18" charset="0"/>
              </a:rPr>
              <a:t>Image3 – 9021 </a:t>
            </a:r>
            <a:r>
              <a:rPr lang="it-IT" sz="1400" dirty="0" err="1">
                <a:latin typeface="Book Antiqua" panose="02040602050305030304" pitchFamily="18" charset="0"/>
              </a:rPr>
              <a:t>peaks</a:t>
            </a:r>
            <a:endParaRPr lang="it-IT" sz="14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Book Antiqua" panose="02040602050305030304" pitchFamily="18" charset="0"/>
              </a:rPr>
              <a:t>Image4 – 8797 </a:t>
            </a:r>
            <a:r>
              <a:rPr lang="it-IT" sz="1400" dirty="0" err="1">
                <a:latin typeface="Book Antiqua" panose="02040602050305030304" pitchFamily="18" charset="0"/>
              </a:rPr>
              <a:t>peaks</a:t>
            </a:r>
            <a:endParaRPr lang="it-IT" sz="14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Book Antiqua" panose="02040602050305030304" pitchFamily="18" charset="0"/>
              </a:rPr>
              <a:t>Image5 – 9041 </a:t>
            </a:r>
            <a:r>
              <a:rPr lang="it-IT" sz="1400" dirty="0" err="1">
                <a:latin typeface="Book Antiqua" panose="02040602050305030304" pitchFamily="18" charset="0"/>
              </a:rPr>
              <a:t>peaks</a:t>
            </a:r>
            <a:endParaRPr lang="it-IT" sz="14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Book Antiqua" panose="02040602050305030304" pitchFamily="18" charset="0"/>
              </a:rPr>
              <a:t>Image6 – 9041 </a:t>
            </a:r>
            <a:r>
              <a:rPr lang="it-IT" sz="1400" dirty="0" err="1">
                <a:latin typeface="Book Antiqua" panose="02040602050305030304" pitchFamily="18" charset="0"/>
              </a:rPr>
              <a:t>peaks</a:t>
            </a:r>
            <a:endParaRPr lang="it-IT" sz="14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Book Antiqua" panose="02040602050305030304" pitchFamily="18" charset="0"/>
              </a:rPr>
              <a:t>Image7 – 9050 </a:t>
            </a:r>
            <a:r>
              <a:rPr lang="it-IT" sz="1400" dirty="0" err="1">
                <a:latin typeface="Book Antiqua" panose="02040602050305030304" pitchFamily="18" charset="0"/>
              </a:rPr>
              <a:t>peaks</a:t>
            </a:r>
            <a:endParaRPr lang="it-IT" sz="1400" dirty="0">
              <a:latin typeface="Book Antiqua" panose="02040602050305030304" pitchFamily="18" charset="0"/>
            </a:endParaRP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5EC28BDA-8063-17A7-E421-E943D7BCDFB7}"/>
              </a:ext>
            </a:extLst>
          </p:cNvPr>
          <p:cNvCxnSpPr>
            <a:cxnSpLocks/>
          </p:cNvCxnSpPr>
          <p:nvPr/>
        </p:nvCxnSpPr>
        <p:spPr>
          <a:xfrm flipV="1">
            <a:off x="2304339" y="1174071"/>
            <a:ext cx="1753026" cy="66003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957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78599-E677-CB71-D2E7-B7A3E1FBD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91723DB-7E7E-B9DF-375A-5A60FA7A034A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81E5076-2DCD-A78A-219F-607640DDBC9D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46CD9DB1-335F-B88E-92C8-70728E6E1DC7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9EDAB455-B8D0-780C-C4EB-F5407C7E3EDC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5298307B-4CB4-1DA8-3324-F58EEF6AE1B3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AA26D7BF-C036-D3FA-2784-2F9A4D3FE6E1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6E475212-07B3-6F09-B15A-2D1AF7D4E070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DDF90E50-DA03-84BA-ACF7-ED0196B7E1F1}"/>
              </a:ext>
            </a:extLst>
          </p:cNvPr>
          <p:cNvGrpSpPr/>
          <p:nvPr/>
        </p:nvGrpSpPr>
        <p:grpSpPr>
          <a:xfrm rot="13500013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37D523C0-CCA9-3C12-7CEF-0C6771A30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13D79724-4784-92F6-5CDF-0BDA67647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8DE0DD25-3277-F957-9C2A-765953374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D2581677-8C01-E9EC-B6E8-0F3AA8898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B57A8A64-852E-F602-CBF1-E21FBF5AE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891B9240-8011-8BA0-BA7C-5FD060178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9AF8374-B7EC-E755-FDFD-578ADF43530B}"/>
              </a:ext>
            </a:extLst>
          </p:cNvPr>
          <p:cNvSpPr txBox="1"/>
          <p:nvPr/>
        </p:nvSpPr>
        <p:spPr>
          <a:xfrm>
            <a:off x="3942019" y="640530"/>
            <a:ext cx="793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Studying Histograms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pic>
        <p:nvPicPr>
          <p:cNvPr id="6" name="Immagine 5" descr="Immagine che contiene diagramma, line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64870846-02E6-878A-E3B8-50EF6499DB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4412" y="1252810"/>
            <a:ext cx="6180190" cy="2293278"/>
          </a:xfrm>
          <a:prstGeom prst="rect">
            <a:avLst/>
          </a:prstGeom>
        </p:spPr>
      </p:pic>
      <p:pic>
        <p:nvPicPr>
          <p:cNvPr id="10" name="Immagine 9" descr="Immagine che contiene testo, diagramma, Rettangolo, quadrato&#10;&#10;Il contenuto generato dall'IA potrebbe non essere corretto.">
            <a:extLst>
              <a:ext uri="{FF2B5EF4-FFF2-40B4-BE49-F238E27FC236}">
                <a16:creationId xmlns:a16="http://schemas.microsoft.com/office/drawing/2014/main" id="{80BF43E1-D375-0287-5EA0-30EB28B72A4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47884"/>
          <a:stretch>
            <a:fillRect/>
          </a:stretch>
        </p:blipFill>
        <p:spPr>
          <a:xfrm>
            <a:off x="4414187" y="4325622"/>
            <a:ext cx="6203644" cy="2149350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18B2116-6563-3A57-31DA-415042884B5C}"/>
              </a:ext>
            </a:extLst>
          </p:cNvPr>
          <p:cNvSpPr txBox="1"/>
          <p:nvPr/>
        </p:nvSpPr>
        <p:spPr>
          <a:xfrm>
            <a:off x="5675970" y="3768068"/>
            <a:ext cx="5174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Aligning</a:t>
            </a:r>
            <a:r>
              <a:rPr lang="it-IT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it-IT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peak</a:t>
            </a:r>
            <a:r>
              <a:rPr lang="it-IT" b="1" dirty="0">
                <a:solidFill>
                  <a:srgbClr val="002060"/>
                </a:solidFill>
                <a:latin typeface="Book Antiqua" panose="02040602050305030304" pitchFamily="18" charset="0"/>
              </a:rPr>
              <a:t> to </a:t>
            </a:r>
            <a:r>
              <a:rPr lang="it-IT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perfect</a:t>
            </a:r>
            <a:r>
              <a:rPr lang="it-IT" b="1" dirty="0">
                <a:solidFill>
                  <a:srgbClr val="002060"/>
                </a:solidFill>
                <a:latin typeface="Book Antiqua" panose="02040602050305030304" pitchFamily="18" charset="0"/>
              </a:rPr>
              <a:t> image </a:t>
            </a:r>
            <a:r>
              <a:rPr lang="it-IT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peak</a:t>
            </a:r>
            <a:endParaRPr lang="it-IT" b="1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4E579555-A64A-F81D-78C3-14B52895401C}"/>
              </a:ext>
            </a:extLst>
          </p:cNvPr>
          <p:cNvCxnSpPr>
            <a:cxnSpLocks/>
          </p:cNvCxnSpPr>
          <p:nvPr/>
        </p:nvCxnSpPr>
        <p:spPr>
          <a:xfrm flipV="1">
            <a:off x="2304339" y="1174071"/>
            <a:ext cx="1753026" cy="66003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631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D672-5B7B-AE27-DDFB-CB15212A2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BDD13159-3DBB-DF0D-1CB4-4A4C8BB9BA61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738924D-3391-959F-57DE-3AAD56D9B483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2ED77B85-F9B0-6172-5FEC-B499ECEB4220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A92C6A0B-0CF7-94E6-8E44-1ACC92D8190D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BEF0C2B4-C862-95B9-9EF9-DA9CC5C561D5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869B1F37-6C12-3557-E48C-82E27453BFAF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E8902D25-973E-7A84-010C-84C7E56E74F5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FDA75E7E-8A58-B0D3-DFEF-71F31730E023}"/>
              </a:ext>
            </a:extLst>
          </p:cNvPr>
          <p:cNvGrpSpPr/>
          <p:nvPr/>
        </p:nvGrpSpPr>
        <p:grpSpPr>
          <a:xfrm rot="13500013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B5724143-6B07-C2C2-BA9C-82B28941A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553AE214-EE77-E229-BF7E-CB76B6431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637F80CA-D3BC-C1E7-EFE5-6CC2149AB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B3452951-5E93-CD9A-1C36-7FF0248E5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E2240571-FB32-4EB3-69C9-E059A83FB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19E29A1B-6D4E-C940-458B-655E7A40C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D30FEFA-E80F-7A86-1F37-CE619B317988}"/>
              </a:ext>
            </a:extLst>
          </p:cNvPr>
          <p:cNvSpPr txBox="1"/>
          <p:nvPr/>
        </p:nvSpPr>
        <p:spPr>
          <a:xfrm>
            <a:off x="3942019" y="640530"/>
            <a:ext cx="793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Studying Histograms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pic>
        <p:nvPicPr>
          <p:cNvPr id="19" name="Immagine 18" descr="Immagine che contiene testo, Rettangolo, schermata, quadrato&#10;&#10;Il contenuto generato dall'IA potrebbe non essere corretto.">
            <a:extLst>
              <a:ext uri="{FF2B5EF4-FFF2-40B4-BE49-F238E27FC236}">
                <a16:creationId xmlns:a16="http://schemas.microsoft.com/office/drawing/2014/main" id="{F8E446FD-8A40-D495-B900-A145F3D97B9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8204"/>
          <a:stretch>
            <a:fillRect/>
          </a:stretch>
        </p:blipFill>
        <p:spPr>
          <a:xfrm>
            <a:off x="4414187" y="4456937"/>
            <a:ext cx="6353687" cy="2228522"/>
          </a:xfrm>
          <a:prstGeom prst="rect">
            <a:avLst/>
          </a:prstGeom>
        </p:spPr>
      </p:pic>
      <p:pic>
        <p:nvPicPr>
          <p:cNvPr id="3" name="Immagine 2" descr="Immagine che contiene testo, diagramma, Rettangolo, quadrato&#10;&#10;Il contenuto generato dall'IA potrebbe non essere corretto.">
            <a:extLst>
              <a:ext uri="{FF2B5EF4-FFF2-40B4-BE49-F238E27FC236}">
                <a16:creationId xmlns:a16="http://schemas.microsoft.com/office/drawing/2014/main" id="{D2FEBF72-7A90-D5AF-3149-1CF0D9DF19E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47884"/>
          <a:stretch>
            <a:fillRect/>
          </a:stretch>
        </p:blipFill>
        <p:spPr>
          <a:xfrm>
            <a:off x="4414187" y="1381705"/>
            <a:ext cx="6203644" cy="21493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71966A7-A940-84EF-DF9E-BB9F94731ACA}"/>
                  </a:ext>
                </a:extLst>
              </p:cNvPr>
              <p:cNvSpPr txBox="1"/>
              <p:nvPr/>
            </p:nvSpPr>
            <p:spPr>
              <a:xfrm>
                <a:off x="5007106" y="3841552"/>
                <a:ext cx="3450304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′ =</m:t>
                      </m:r>
                      <m:d>
                        <m:dPr>
                          <m:begChr m:val="{"/>
                          <m:endChr m:val="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0 , 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 |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| &lt; 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m:rPr>
                                  <m:nor/>
                                </m:rPr>
                                <a:rPr lang="it-IT"/>
                                <m:t> </m:t>
                              </m:r>
                            </m:e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𝑠𝑖𝑔𝑛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) , 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 |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| ≥ 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71966A7-A940-84EF-DF9E-BB9F94731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106" y="3841552"/>
                <a:ext cx="3450304" cy="61786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1A4F363C-44D3-50DC-9232-E89914943560}"/>
                  </a:ext>
                </a:extLst>
              </p:cNvPr>
              <p:cNvSpPr txBox="1"/>
              <p:nvPr/>
            </p:nvSpPr>
            <p:spPr>
              <a:xfrm>
                <a:off x="9150333" y="4011982"/>
                <a:ext cx="8683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= 3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it-IT" i="1" dirty="0"/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1A4F363C-44D3-50DC-9232-E89914943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333" y="4011982"/>
                <a:ext cx="868315" cy="276999"/>
              </a:xfrm>
              <a:prstGeom prst="rect">
                <a:avLst/>
              </a:prstGeom>
              <a:blipFill>
                <a:blip r:embed="rId12"/>
                <a:stretch>
                  <a:fillRect l="-5634" r="-3521" b="-65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4CD5001-71CE-B204-88A1-BD91FF3B2F90}"/>
              </a:ext>
            </a:extLst>
          </p:cNvPr>
          <p:cNvSpPr txBox="1"/>
          <p:nvPr/>
        </p:nvSpPr>
        <p:spPr>
          <a:xfrm>
            <a:off x="6725796" y="3531296"/>
            <a:ext cx="25350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002060"/>
                </a:solidFill>
                <a:latin typeface="Book Antiqua" panose="02040602050305030304" pitchFamily="18" charset="0"/>
              </a:rPr>
              <a:t>Soft </a:t>
            </a:r>
            <a:r>
              <a:rPr lang="it-IT" sz="16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thresholding</a:t>
            </a:r>
            <a:endParaRPr lang="it-IT" sz="1600" b="1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6ADFC674-0FF0-CBFD-F5FF-2DAE522110BF}"/>
              </a:ext>
            </a:extLst>
          </p:cNvPr>
          <p:cNvCxnSpPr>
            <a:cxnSpLocks/>
          </p:cNvCxnSpPr>
          <p:nvPr/>
        </p:nvCxnSpPr>
        <p:spPr>
          <a:xfrm flipV="1">
            <a:off x="2304339" y="1174071"/>
            <a:ext cx="1753026" cy="66003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3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6C7E2-B246-AC38-6171-8A517F39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D2F232D2-31D6-89DA-318B-54AF8D2D9AB1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6E0B601-2D41-1A80-4CC8-2571DF3580B1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4A0EF68C-DC06-9A46-670C-4B04AEFFEE3C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A13D7ADA-E376-9854-C80B-DDE0226CEBE2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3B797CED-3B15-A954-8BD5-BDEB5AE4A789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9FA05EBD-533A-67E7-0609-AFF19600D85C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ADC419F-4D8B-D8AD-C69A-705FA342A1FD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DC2BF2DA-7571-41ED-56F7-902F4DD65070}"/>
              </a:ext>
            </a:extLst>
          </p:cNvPr>
          <p:cNvGrpSpPr/>
          <p:nvPr/>
        </p:nvGrpSpPr>
        <p:grpSpPr>
          <a:xfrm rot="13500013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6AFACDDB-5B18-1E75-E7F8-CEF596DFF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2D619CF6-F929-79B1-D164-4535DB47A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8691663D-C889-2479-7DAB-D7DC9D545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8DF4208F-5332-F809-28F9-C7ADF862C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A3FC1850-B6A1-C261-E18D-D86E38121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3EF07438-9BC8-D816-1AEE-5BEA6A2C0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0086C1E-10DD-10A7-B759-FFCB61355F01}"/>
              </a:ext>
            </a:extLst>
          </p:cNvPr>
          <p:cNvSpPr txBox="1"/>
          <p:nvPr/>
        </p:nvSpPr>
        <p:spPr>
          <a:xfrm>
            <a:off x="3942019" y="640530"/>
            <a:ext cx="793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Denoised Results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pic>
        <p:nvPicPr>
          <p:cNvPr id="6" name="Immagine 5" descr="Immagine che contiene cibo&#10;&#10;Il contenuto generato dall'IA potrebbe non essere corretto.">
            <a:extLst>
              <a:ext uri="{FF2B5EF4-FFF2-40B4-BE49-F238E27FC236}">
                <a16:creationId xmlns:a16="http://schemas.microsoft.com/office/drawing/2014/main" id="{8498CAA5-1498-3027-141E-B1D8FA2427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4327" y="1544878"/>
            <a:ext cx="7281841" cy="4685912"/>
          </a:xfrm>
          <a:prstGeom prst="rect">
            <a:avLst/>
          </a:prstGeom>
        </p:spPr>
      </p:pic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32FFDD98-5605-0DB6-AAF6-139E7125273F}"/>
              </a:ext>
            </a:extLst>
          </p:cNvPr>
          <p:cNvCxnSpPr>
            <a:cxnSpLocks/>
          </p:cNvCxnSpPr>
          <p:nvPr/>
        </p:nvCxnSpPr>
        <p:spPr>
          <a:xfrm flipV="1">
            <a:off x="2304339" y="1174071"/>
            <a:ext cx="1753026" cy="66003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810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D4DD9-0175-2F7D-C2F4-7B0290533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4A3BA429-C306-DC52-06F4-AEF0420BBB08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026A7FF-03EA-0803-B543-561BD5C4A712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E0379071-F42B-D8C8-5FDC-9946D0F45878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97CBCF82-E82F-852B-F246-A818EAD824FC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C3DCA46C-8480-71E5-A3EC-7D3262EE5E5C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800EEAD3-B8C4-7C42-838B-618BF7360A67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FE246FD-5EDB-9D07-6BC5-0F697998D3E6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CEEE2342-8E43-2C4F-47E9-36E843CF2600}"/>
              </a:ext>
            </a:extLst>
          </p:cNvPr>
          <p:cNvGrpSpPr/>
          <p:nvPr/>
        </p:nvGrpSpPr>
        <p:grpSpPr>
          <a:xfrm rot="13500013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7F741BE1-7806-3825-68A4-E41D34B2F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B62BC216-558D-C13E-DB46-0290F497B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4EC3CB90-4294-1111-508D-D317C8236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822F3647-3B0D-EB25-CA5E-604E8AD7B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05C2C28A-7225-792C-9FC8-6FAFEA529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A4A9D751-83D9-F046-01EE-A08FCAA05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B0D188C-C21B-EEBF-1F7E-ABBAE8CA1047}"/>
              </a:ext>
            </a:extLst>
          </p:cNvPr>
          <p:cNvSpPr txBox="1"/>
          <p:nvPr/>
        </p:nvSpPr>
        <p:spPr>
          <a:xfrm>
            <a:off x="3942019" y="640530"/>
            <a:ext cx="793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Static Nested Windows Function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pic>
        <p:nvPicPr>
          <p:cNvPr id="10" name="Immagine 9" descr="Immagine che contiene schermata&#10;&#10;Il contenuto generato dall'IA potrebbe non essere corretto.">
            <a:extLst>
              <a:ext uri="{FF2B5EF4-FFF2-40B4-BE49-F238E27FC236}">
                <a16:creationId xmlns:a16="http://schemas.microsoft.com/office/drawing/2014/main" id="{31D1B7BB-2E38-09F0-17A7-B7601C0233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6678" y="2343693"/>
            <a:ext cx="8154185" cy="2817301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510825C-C107-1743-9722-0E6CFB5FAB31}"/>
              </a:ext>
            </a:extLst>
          </p:cNvPr>
          <p:cNvSpPr txBox="1"/>
          <p:nvPr/>
        </p:nvSpPr>
        <p:spPr>
          <a:xfrm>
            <a:off x="3597516" y="1934934"/>
            <a:ext cx="8528233" cy="27975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def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detect_stars_nested_base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img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A_size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=3,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B_size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=7,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th_mean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=2,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th_std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=1):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895AEFFB-849D-D46A-8631-B4054B4D178E}"/>
              </a:ext>
            </a:extLst>
          </p:cNvPr>
          <p:cNvCxnSpPr>
            <a:cxnSpLocks/>
          </p:cNvCxnSpPr>
          <p:nvPr/>
        </p:nvCxnSpPr>
        <p:spPr>
          <a:xfrm flipV="1">
            <a:off x="2304339" y="1174071"/>
            <a:ext cx="1753026" cy="66003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427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9F063-BBBD-7941-D050-9ED19A31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41C5BA3-892B-E99D-DB76-7266DBAE588C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0C56D9F-2071-6B3A-9E70-CFD34F2B58E8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B7D80622-F4D2-2393-CCF9-B805B2F2324D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52376FE5-3533-F9A3-4F84-EBD32AC8F98B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9F4D591D-77B2-76A5-F146-8FDA04DD8815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96011B72-7AA5-BA6E-65A9-6F3554159D2C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44AA56A-FF65-A1C7-4494-4F07FDBFB716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D11208A1-46D1-18BE-1936-893AD6C66C48}"/>
              </a:ext>
            </a:extLst>
          </p:cNvPr>
          <p:cNvGrpSpPr/>
          <p:nvPr/>
        </p:nvGrpSpPr>
        <p:grpSpPr>
          <a:xfrm rot="13500013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1418DF5A-FA5C-A7A5-6D3D-82A45EF1B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6F376B78-C441-AEA4-0360-84A6ACCC2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7D75A201-F255-2633-2D87-66075ACE7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DB7786DD-43C3-DADB-7C88-FE2350CD2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B96ED06D-B686-262B-5CB0-BBDD28F01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466E1630-D97E-7056-7A9F-E9CB41835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8A52038-6747-83D8-BB8F-942D2E48A25F}"/>
              </a:ext>
            </a:extLst>
          </p:cNvPr>
          <p:cNvSpPr txBox="1"/>
          <p:nvPr/>
        </p:nvSpPr>
        <p:spPr>
          <a:xfrm>
            <a:off x="3942019" y="640530"/>
            <a:ext cx="793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Studying Windows Parameters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pic>
        <p:nvPicPr>
          <p:cNvPr id="5" name="Immagine 4" descr="Immagine che contiene schermata, quadrato, Rettangolo&#10;&#10;Il contenuto generato dall'IA potrebbe non essere corretto.">
            <a:extLst>
              <a:ext uri="{FF2B5EF4-FFF2-40B4-BE49-F238E27FC236}">
                <a16:creationId xmlns:a16="http://schemas.microsoft.com/office/drawing/2014/main" id="{BEAFA514-1C48-F12F-23B7-CF459038FB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4418" y="2152423"/>
            <a:ext cx="4214967" cy="4352855"/>
          </a:xfrm>
          <a:prstGeom prst="rect">
            <a:avLst/>
          </a:prstGeom>
        </p:spPr>
      </p:pic>
      <p:pic>
        <p:nvPicPr>
          <p:cNvPr id="7" name="Immagine 6" descr="Immagine che contiene schermata, testo, quadrato, Rettangolo&#10;&#10;Il contenuto generato dall'IA potrebbe non essere corretto.">
            <a:extLst>
              <a:ext uri="{FF2B5EF4-FFF2-40B4-BE49-F238E27FC236}">
                <a16:creationId xmlns:a16="http://schemas.microsoft.com/office/drawing/2014/main" id="{BD3B4AE0-62AD-4F19-51C6-AF26A42309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3154" y="2135689"/>
            <a:ext cx="4249430" cy="4388445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CB7FCC2-53F7-F768-D3FB-DDD961442450}"/>
              </a:ext>
            </a:extLst>
          </p:cNvPr>
          <p:cNvSpPr txBox="1"/>
          <p:nvPr/>
        </p:nvSpPr>
        <p:spPr>
          <a:xfrm>
            <a:off x="3376552" y="1682411"/>
            <a:ext cx="4188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Changing</a:t>
            </a:r>
            <a:r>
              <a:rPr lang="it-IT" b="1" dirty="0">
                <a:solidFill>
                  <a:srgbClr val="002060"/>
                </a:solidFill>
                <a:latin typeface="Book Antiqua" panose="02040602050305030304" pitchFamily="18" charset="0"/>
              </a:rPr>
              <a:t> Windows </a:t>
            </a:r>
            <a:r>
              <a:rPr lang="it-IT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Dimensions</a:t>
            </a:r>
            <a:endParaRPr lang="it-IT" b="1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86AEFE5-DC00-B084-F22F-E94ABC504245}"/>
              </a:ext>
            </a:extLst>
          </p:cNvPr>
          <p:cNvSpPr txBox="1"/>
          <p:nvPr/>
        </p:nvSpPr>
        <p:spPr>
          <a:xfrm>
            <a:off x="7714137" y="1688109"/>
            <a:ext cx="4188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Changing</a:t>
            </a:r>
            <a:r>
              <a:rPr lang="it-IT" b="1" dirty="0">
                <a:solidFill>
                  <a:srgbClr val="002060"/>
                </a:solidFill>
                <a:latin typeface="Book Antiqua" panose="02040602050305030304" pitchFamily="18" charset="0"/>
              </a:rPr>
              <a:t> Mean and </a:t>
            </a:r>
            <a:r>
              <a:rPr lang="it-IT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StD</a:t>
            </a:r>
            <a:r>
              <a:rPr lang="it-IT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it-IT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Thresholds</a:t>
            </a:r>
            <a:endParaRPr lang="it-IT" b="1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11709FF-8B64-71B3-3976-7E7CAAFC7654}"/>
              </a:ext>
            </a:extLst>
          </p:cNvPr>
          <p:cNvSpPr/>
          <p:nvPr/>
        </p:nvSpPr>
        <p:spPr>
          <a:xfrm>
            <a:off x="7538224" y="2152423"/>
            <a:ext cx="45719" cy="434818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1AD7119E-C676-9526-9A14-43E2F01C7D22}"/>
              </a:ext>
            </a:extLst>
          </p:cNvPr>
          <p:cNvCxnSpPr>
            <a:cxnSpLocks/>
          </p:cNvCxnSpPr>
          <p:nvPr/>
        </p:nvCxnSpPr>
        <p:spPr>
          <a:xfrm flipV="1">
            <a:off x="2304339" y="1174071"/>
            <a:ext cx="1753026" cy="66003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597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FC9AC-D4BA-0F1F-BD55-A7608C97C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5707FBF4-0391-C5A0-1073-5D490847CF91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E816D84-8889-B022-2658-AC7726291332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7465E148-C9C4-58CF-AC5F-B9A6AEA40EE8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7511B1D2-755E-2818-4A30-2647E9C320F6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99290048-804E-5EA1-EBFC-031A57BF9E8F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9738D906-A0C3-BAE4-DB1F-805ECD261926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673E7687-4081-F9C8-0C8C-EA940200C39D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E87495AA-BE3A-6437-A392-5F98FDA5A521}"/>
              </a:ext>
            </a:extLst>
          </p:cNvPr>
          <p:cNvGrpSpPr/>
          <p:nvPr/>
        </p:nvGrpSpPr>
        <p:grpSpPr>
          <a:xfrm rot="13500013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6603DBC4-AA23-493B-1C6B-6F34A5D64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92B55393-F79C-58A0-C99B-4A92586B0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CC2E9ECD-7C2C-D2A4-6D7E-E4D89D276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46299DB4-062B-D4EF-4D99-26598DDB4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D02D7813-7A9A-EF54-ABFB-4A0B92F4D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EAD9DB8F-661D-CEAE-13D0-66B31EC64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DFFF4A0-212A-5E7A-2A1B-0E9BBEC864A8}"/>
              </a:ext>
            </a:extLst>
          </p:cNvPr>
          <p:cNvSpPr txBox="1"/>
          <p:nvPr/>
        </p:nvSpPr>
        <p:spPr>
          <a:xfrm>
            <a:off x="3942019" y="640530"/>
            <a:ext cx="793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Multiscale Windows Function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11707E4-4DC8-8483-4EAF-0E502313FE5E}"/>
              </a:ext>
            </a:extLst>
          </p:cNvPr>
          <p:cNvSpPr txBox="1"/>
          <p:nvPr/>
        </p:nvSpPr>
        <p:spPr>
          <a:xfrm>
            <a:off x="4298788" y="1342616"/>
            <a:ext cx="8728955" cy="818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def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detect_stars_multiscale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img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A_sizes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=[3,5,7],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B_sizes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=[7,11,15],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			</a:t>
            </a:r>
            <a:r>
              <a:rPr lang="en-US" sz="1600" dirty="0">
                <a:latin typeface="Consolas" panose="020B0609020204030204" pitchFamily="49" charset="0"/>
              </a:rPr>
              <a:t>     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th_mean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=4,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th_std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=3): </a:t>
            </a: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effectLst/>
                <a:latin typeface="Consolas" panose="020B0609020204030204" pitchFamily="49" charset="0"/>
              </a:rPr>
            </a:br>
            <a:endParaRPr lang="en-US" sz="16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21" name="Immagine 20" descr="Immagine che contiene schermata, astronomia&#10;&#10;Il contenuto generato dall'IA potrebbe non essere corretto.">
            <a:extLst>
              <a:ext uri="{FF2B5EF4-FFF2-40B4-BE49-F238E27FC236}">
                <a16:creationId xmlns:a16="http://schemas.microsoft.com/office/drawing/2014/main" id="{6215DB9C-FCC4-1F40-4DC2-87C9EF84D2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6878" y="2049914"/>
            <a:ext cx="8670278" cy="2995613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8C71C920-A7DD-DDAB-3AA1-FBE061E81FB8}"/>
              </a:ext>
            </a:extLst>
          </p:cNvPr>
          <p:cNvSpPr txBox="1"/>
          <p:nvPr/>
        </p:nvSpPr>
        <p:spPr>
          <a:xfrm>
            <a:off x="3456878" y="5076468"/>
            <a:ext cx="25053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ook Antiqua" panose="02040602050305030304" pitchFamily="18" charset="0"/>
              </a:rPr>
              <a:t>True Positives: 20 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False Positives: 0 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False Negatives: 302 </a:t>
            </a:r>
            <a:r>
              <a:rPr lang="en-US" sz="1600" b="1" dirty="0">
                <a:latin typeface="Book Antiqua" panose="02040602050305030304" pitchFamily="18" charset="0"/>
              </a:rPr>
              <a:t>Precision: 100.00% 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Recall: 6.21% 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F1-Score: 11.70% </a:t>
            </a:r>
            <a:br>
              <a:rPr lang="en-US" sz="1600" dirty="0">
                <a:latin typeface="Book Antiqua" panose="02040602050305030304" pitchFamily="18" charset="0"/>
              </a:rPr>
            </a:br>
            <a:endParaRPr lang="it-IT" sz="1600" dirty="0">
              <a:latin typeface="Book Antiqua" panose="02040602050305030304" pitchFamily="18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E2FDB3C-CE88-61C9-318D-1F945509BC92}"/>
              </a:ext>
            </a:extLst>
          </p:cNvPr>
          <p:cNvSpPr txBox="1"/>
          <p:nvPr/>
        </p:nvSpPr>
        <p:spPr>
          <a:xfrm>
            <a:off x="6437098" y="5054517"/>
            <a:ext cx="250530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ook Antiqua" panose="02040602050305030304" pitchFamily="18" charset="0"/>
              </a:rPr>
              <a:t>True Positives: 15 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False Positives: 0 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False Negatives: 306 </a:t>
            </a:r>
            <a:r>
              <a:rPr lang="en-US" sz="1600" b="1" dirty="0">
                <a:latin typeface="Book Antiqua" panose="02040602050305030304" pitchFamily="18" charset="0"/>
              </a:rPr>
              <a:t>Precision: 100.00% 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Recall: 4.67% 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F1-Score: 8.93%</a:t>
            </a:r>
            <a:endParaRPr lang="it-IT" sz="1400" dirty="0">
              <a:latin typeface="Book Antiqua" panose="02040602050305030304" pitchFamily="18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28C918A1-FE64-A955-B9FB-F18276BE3E51}"/>
              </a:ext>
            </a:extLst>
          </p:cNvPr>
          <p:cNvSpPr txBox="1"/>
          <p:nvPr/>
        </p:nvSpPr>
        <p:spPr>
          <a:xfrm>
            <a:off x="9289462" y="5028932"/>
            <a:ext cx="25053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ook Antiqua" panose="02040602050305030304" pitchFamily="18" charset="0"/>
              </a:rPr>
              <a:t>True Positives: 20 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False Positives: 0 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False Negatives: 302 </a:t>
            </a:r>
            <a:r>
              <a:rPr lang="en-US" sz="1600" b="1" dirty="0">
                <a:latin typeface="Book Antiqua" panose="02040602050305030304" pitchFamily="18" charset="0"/>
              </a:rPr>
              <a:t>Precision: 100.00% 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Recall: 6.21% 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F1-Score: 11.70%</a:t>
            </a:r>
            <a:endParaRPr lang="it-IT" sz="1400" dirty="0">
              <a:latin typeface="Book Antiqua" panose="02040602050305030304" pitchFamily="18" charset="0"/>
            </a:endParaRP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68724BD3-56EB-E129-EAB8-360897E22A5D}"/>
              </a:ext>
            </a:extLst>
          </p:cNvPr>
          <p:cNvCxnSpPr>
            <a:cxnSpLocks/>
          </p:cNvCxnSpPr>
          <p:nvPr/>
        </p:nvCxnSpPr>
        <p:spPr>
          <a:xfrm flipV="1">
            <a:off x="2304339" y="1174071"/>
            <a:ext cx="1753026" cy="66003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851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4767A-2A2A-569C-2BE5-F0C528EEE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886F848A-9502-DA3A-1B3E-DAC05BF6F6A4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E7BF829-25FC-30B0-9C2C-C9B470684ADA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3C70C0F3-3B4E-6684-6A58-1E92B594B8CC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57D773E2-4C65-EDA3-8A98-9EB8B76BB671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1276C942-FC0B-78BA-2353-65EF557C05FA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8B71A657-8A7C-CE5A-11DF-27F79CB25532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AF40C2C-ECED-2027-2F6A-8C037E4B25DA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9BDFC882-5FAF-9960-DA3E-078B1D52C8D0}"/>
              </a:ext>
            </a:extLst>
          </p:cNvPr>
          <p:cNvGrpSpPr/>
          <p:nvPr/>
        </p:nvGrpSpPr>
        <p:grpSpPr>
          <a:xfrm rot="13500013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C46D9846-B3E6-D349-4F11-9A727C5DC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FBEEA4AC-5E7C-148D-82AA-BF322982B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06C5B63B-A80E-CA0C-9E0F-FA7FD39BA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1AFC4AAF-8F93-4058-4996-6C9836CE3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5D7F91B3-BB97-0498-B629-4EDC7F861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02D9AC72-36E2-0AEE-B0A0-CADE129E0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F949F40-17D1-6164-8391-E983BB55DF21}"/>
              </a:ext>
            </a:extLst>
          </p:cNvPr>
          <p:cNvSpPr txBox="1"/>
          <p:nvPr/>
        </p:nvSpPr>
        <p:spPr>
          <a:xfrm>
            <a:off x="3942019" y="640530"/>
            <a:ext cx="793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Book Antiqua" panose="02040602050305030304" pitchFamily="18" charset="0"/>
              </a:rPr>
              <a:t>Adaptive Multiscale Function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pic>
        <p:nvPicPr>
          <p:cNvPr id="11" name="Immagine 10" descr="Immagine che contiene schermata, testo&#10;&#10;Il contenuto generato dall'IA potrebbe non essere corretto.">
            <a:extLst>
              <a:ext uri="{FF2B5EF4-FFF2-40B4-BE49-F238E27FC236}">
                <a16:creationId xmlns:a16="http://schemas.microsoft.com/office/drawing/2014/main" id="{40CB2436-768B-095D-8F67-B84573924C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8999" y="2063369"/>
            <a:ext cx="5090814" cy="4747433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D819153-DF08-F277-00AB-05179AACD470}"/>
              </a:ext>
            </a:extLst>
          </p:cNvPr>
          <p:cNvSpPr txBox="1"/>
          <p:nvPr/>
        </p:nvSpPr>
        <p:spPr>
          <a:xfrm>
            <a:off x="8854417" y="2355109"/>
            <a:ext cx="37108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Book Antiqua" panose="02040602050305030304" pitchFamily="18" charset="0"/>
              </a:rPr>
              <a:t>Image 6 (stretched): </a:t>
            </a:r>
          </a:p>
          <a:p>
            <a:r>
              <a:rPr lang="en-US">
                <a:latin typeface="Book Antiqua" panose="02040602050305030304" pitchFamily="18" charset="0"/>
              </a:rPr>
              <a:t>Standard: 10 stars detected Adaptive: 21 stars detected </a:t>
            </a:r>
          </a:p>
          <a:p>
            <a:r>
              <a:rPr lang="en-US">
                <a:latin typeface="Book Antiqua" panose="02040602050305030304" pitchFamily="18" charset="0"/>
              </a:rPr>
              <a:t>Improvement: </a:t>
            </a:r>
          </a:p>
          <a:p>
            <a:r>
              <a:rPr lang="en-US">
                <a:latin typeface="Book Antiqua" panose="02040602050305030304" pitchFamily="18" charset="0"/>
              </a:rPr>
              <a:t>+11 stars (110.0%)</a:t>
            </a:r>
          </a:p>
          <a:p>
            <a:endParaRPr lang="en-US">
              <a:latin typeface="Book Antiqua" panose="02040602050305030304" pitchFamily="18" charset="0"/>
            </a:endParaRPr>
          </a:p>
          <a:p>
            <a:endParaRPr lang="en-US">
              <a:latin typeface="Book Antiqua" panose="02040602050305030304" pitchFamily="18" charset="0"/>
            </a:endParaRPr>
          </a:p>
          <a:p>
            <a:endParaRPr lang="en-US">
              <a:latin typeface="Book Antiqua" panose="02040602050305030304" pitchFamily="18" charset="0"/>
            </a:endParaRPr>
          </a:p>
          <a:p>
            <a:endParaRPr lang="en-US">
              <a:latin typeface="Book Antiqua" panose="02040602050305030304" pitchFamily="18" charset="0"/>
            </a:endParaRPr>
          </a:p>
          <a:p>
            <a:r>
              <a:rPr lang="en-US">
                <a:latin typeface="Book Antiqua" panose="02040602050305030304" pitchFamily="18" charset="0"/>
              </a:rPr>
              <a:t>Image 7 (noisy and stretched): Standard: 1 stars detected Adaptive: 2 stars detected </a:t>
            </a:r>
          </a:p>
          <a:p>
            <a:r>
              <a:rPr lang="en-US">
                <a:latin typeface="Book Antiqua" panose="02040602050305030304" pitchFamily="18" charset="0"/>
              </a:rPr>
              <a:t>Improvement: </a:t>
            </a:r>
          </a:p>
          <a:p>
            <a:r>
              <a:rPr lang="en-US">
                <a:latin typeface="Book Antiqua" panose="02040602050305030304" pitchFamily="18" charset="0"/>
              </a:rPr>
              <a:t>+1 stars (100.0%)</a:t>
            </a:r>
            <a:endParaRPr lang="it-IT" dirty="0">
              <a:latin typeface="Book Antiqua" panose="02040602050305030304" pitchFamily="18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C7C6BE9-3CB5-AEB2-CE60-7D60C24A8724}"/>
              </a:ext>
            </a:extLst>
          </p:cNvPr>
          <p:cNvSpPr txBox="1"/>
          <p:nvPr/>
        </p:nvSpPr>
        <p:spPr>
          <a:xfrm>
            <a:off x="3718999" y="1404685"/>
            <a:ext cx="11453223" cy="638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def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detect_stars_multiscale_adaptive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img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A_sizes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=[3,5,7],sizes=[7,11,15],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			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th_mean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=3,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th_std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=2,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adapt_eccentricity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=True, 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			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ecc_threshold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=0.4,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scale_eccentricity_factor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=0.5):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CAB99AAB-9CBB-668D-1004-1A81A8E87AB2}"/>
              </a:ext>
            </a:extLst>
          </p:cNvPr>
          <p:cNvCxnSpPr>
            <a:cxnSpLocks/>
          </p:cNvCxnSpPr>
          <p:nvPr/>
        </p:nvCxnSpPr>
        <p:spPr>
          <a:xfrm flipV="1">
            <a:off x="2304339" y="1174071"/>
            <a:ext cx="1753026" cy="66003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52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A8D38-CC94-981C-91A0-EB3B2CFC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5E84B26D-0585-5729-F436-5CFD8B36B1B0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364E389B-8FD2-2BB8-12B9-F79110319D9F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E56BA553-1667-B52C-7EC3-5C0897D57E04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5A64BE9F-FA08-BA8C-C055-257B9ADF764F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282E6D25-F1CF-7A2A-FCA4-9617CC2A5758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952A4CAA-AE08-67BA-3C74-311B63B7D37D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C3DDF234-A163-ADF3-DF7E-4A8166FF8116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D5703BE1-3157-4E45-65DD-EA0ED67C588C}"/>
              </a:ext>
            </a:extLst>
          </p:cNvPr>
          <p:cNvGrpSpPr/>
          <p:nvPr/>
        </p:nvGrpSpPr>
        <p:grpSpPr>
          <a:xfrm rot="13500013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670FDD35-6CCA-F12A-F91F-07FE60C36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8BA1319B-0FED-9D96-5405-6992A7E05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4E2742E2-70D4-7468-41C4-B1A0E2942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4A404E4D-DBA4-5F80-E832-18FAD1ECE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C38CC964-32B0-0252-A6D4-C9234DC82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E0460CCF-9179-169E-3292-9B5EE0890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D6F6E9E-64A6-C38A-BE58-D01F3E40252B}"/>
              </a:ext>
            </a:extLst>
          </p:cNvPr>
          <p:cNvSpPr txBox="1"/>
          <p:nvPr/>
        </p:nvSpPr>
        <p:spPr>
          <a:xfrm>
            <a:off x="3942019" y="640530"/>
            <a:ext cx="793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Book Antiqua" panose="02040602050305030304" pitchFamily="18" charset="0"/>
              </a:rPr>
              <a:t>Improving Detection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pic>
        <p:nvPicPr>
          <p:cNvPr id="5" name="Immagine 4" descr="Immagine che contiene schermata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24C8614F-B6F2-6F82-74AC-74A6473D72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3618" y="1534059"/>
            <a:ext cx="9021993" cy="2651998"/>
          </a:xfrm>
          <a:prstGeom prst="rect">
            <a:avLst/>
          </a:prstGeom>
        </p:spPr>
      </p:pic>
      <p:pic>
        <p:nvPicPr>
          <p:cNvPr id="7" name="Immagine 6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21183876-733B-09E6-AF47-3E455720DC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8990" y="4060927"/>
            <a:ext cx="5665652" cy="2813750"/>
          </a:xfrm>
          <a:prstGeom prst="rect">
            <a:avLst/>
          </a:prstGeom>
        </p:spPr>
      </p:pic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2063483C-4279-4158-53DF-ED302CEBE0DC}"/>
              </a:ext>
            </a:extLst>
          </p:cNvPr>
          <p:cNvCxnSpPr>
            <a:cxnSpLocks/>
          </p:cNvCxnSpPr>
          <p:nvPr/>
        </p:nvCxnSpPr>
        <p:spPr>
          <a:xfrm flipV="1">
            <a:off x="2304339" y="1174071"/>
            <a:ext cx="1753026" cy="66003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075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3FA11-9CAF-23BC-D39A-9D6CCF3F7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6531D7C4-CEF7-BBCC-6691-528574EFA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167" y="1910944"/>
            <a:ext cx="9015244" cy="3246144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167461FA-811C-E8F8-C34E-4F6B179896EB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04F7925-7729-9DBE-52A6-E9827ACB3044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EE33092B-3F02-943A-4CDD-17243D6FB901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412D88D4-B666-0860-6BB0-FF5E7BE05495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8706060F-B86B-6357-D433-B5C93B5C7574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CB1A225D-9E75-928E-8711-2EDF10A2B061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4AB3F47-5E6F-5407-8DAB-31C3ADBF6845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FD99C579-6391-EF85-740E-673FD003ED6F}"/>
              </a:ext>
            </a:extLst>
          </p:cNvPr>
          <p:cNvGrpSpPr/>
          <p:nvPr/>
        </p:nvGrpSpPr>
        <p:grpSpPr>
          <a:xfrm rot="13500013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487AF3EB-A503-0EAD-002D-E88A9CE00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C0310DE2-D158-9696-491F-08371E4BF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72E2EAAB-1CF4-9E14-5274-D6F9E3643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60C9A009-F7F8-7950-A559-F40F5B62F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4B8ECE99-1545-9791-A001-12A883314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3EB73AC5-73AC-E6C9-855D-492D0A9E8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7EA040D-C183-3884-B436-CB9915729269}"/>
              </a:ext>
            </a:extLst>
          </p:cNvPr>
          <p:cNvSpPr txBox="1"/>
          <p:nvPr/>
        </p:nvSpPr>
        <p:spPr>
          <a:xfrm>
            <a:off x="3942019" y="640530"/>
            <a:ext cx="793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Book Antiqua" panose="02040602050305030304" pitchFamily="18" charset="0"/>
              </a:rPr>
              <a:t>Improving Detection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3E7C50C-EB99-2A33-1BF8-493805A3715A}"/>
              </a:ext>
            </a:extLst>
          </p:cNvPr>
          <p:cNvSpPr txBox="1"/>
          <p:nvPr/>
        </p:nvSpPr>
        <p:spPr>
          <a:xfrm>
            <a:off x="4155007" y="5657051"/>
            <a:ext cx="8036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ook Antiqua" panose="02040602050305030304" pitchFamily="18" charset="0"/>
              </a:rPr>
              <a:t>Setting </a:t>
            </a:r>
            <a:r>
              <a:rPr lang="it-IT" dirty="0" err="1">
                <a:latin typeface="Book Antiqua" panose="02040602050305030304" pitchFamily="18" charset="0"/>
              </a:rPr>
              <a:t>eccentricity</a:t>
            </a:r>
            <a:r>
              <a:rPr lang="it-IT" dirty="0">
                <a:latin typeface="Book Antiqua" panose="02040602050305030304" pitchFamily="18" charset="0"/>
              </a:rPr>
              <a:t> </a:t>
            </a:r>
            <a:r>
              <a:rPr lang="it-IT" dirty="0" err="1">
                <a:latin typeface="Book Antiqua" panose="02040602050305030304" pitchFamily="18" charset="0"/>
              </a:rPr>
              <a:t>threshold</a:t>
            </a:r>
            <a:r>
              <a:rPr lang="it-IT" dirty="0">
                <a:latin typeface="Book Antiqua" panose="02040602050305030304" pitchFamily="18" charset="0"/>
              </a:rPr>
              <a:t> to mode (frequency </a:t>
            </a:r>
            <a:r>
              <a:rPr lang="it-IT" dirty="0" err="1">
                <a:latin typeface="Book Antiqua" panose="02040602050305030304" pitchFamily="18" charset="0"/>
              </a:rPr>
              <a:t>peak</a:t>
            </a:r>
            <a:r>
              <a:rPr lang="it-IT" dirty="0">
                <a:latin typeface="Book Antiqua" panose="02040602050305030304" pitchFamily="18" charset="0"/>
              </a:rPr>
              <a:t>)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38038540-8A60-9B48-7F48-7F787E36A700}"/>
              </a:ext>
            </a:extLst>
          </p:cNvPr>
          <p:cNvCxnSpPr>
            <a:cxnSpLocks/>
          </p:cNvCxnSpPr>
          <p:nvPr/>
        </p:nvCxnSpPr>
        <p:spPr>
          <a:xfrm flipV="1">
            <a:off x="2304339" y="1174071"/>
            <a:ext cx="1753026" cy="66003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854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D6DB3-E373-94D4-5B38-2E27D843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222570E8-201C-A7BF-E68D-BFCF0282CA78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A02895F-CBE3-85F3-D33A-754C016CD1F6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2DC51026-9106-16B4-0876-E9B25EDD8421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46838FEF-8C2A-F316-2889-6C7BEC47FF1C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DBE7530F-DDD3-A85D-A0D3-20E6815C0AD5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965AC09E-9062-B05B-8EA5-DFD099F6AE18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20D5252-0064-BA77-FF15-F8748B45A5B3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5AE85341-3BDF-F9EF-084D-EC083F6FB316}"/>
              </a:ext>
            </a:extLst>
          </p:cNvPr>
          <p:cNvGrpSpPr/>
          <p:nvPr/>
        </p:nvGrpSpPr>
        <p:grpSpPr>
          <a:xfrm rot="13500013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255491F0-61D6-550E-0C43-F4778B37F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E260121F-3209-7C4E-8472-815F00862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CC8BFF44-2AA2-2709-2537-88A954615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BFF53813-397D-7BBC-CEAE-F516E94E9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5441287A-B6ED-4AC7-4F35-831ED1FC0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EDFA8463-7E7E-1BEC-9F25-84ED6F4FD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6856FE3-A472-B0CA-7AEF-79D623FF1AFD}"/>
              </a:ext>
            </a:extLst>
          </p:cNvPr>
          <p:cNvSpPr txBox="1"/>
          <p:nvPr/>
        </p:nvSpPr>
        <p:spPr>
          <a:xfrm>
            <a:off x="3942019" y="640530"/>
            <a:ext cx="793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Book Antiqua" panose="02040602050305030304" pitchFamily="18" charset="0"/>
              </a:rPr>
              <a:t>Improving Detection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pic>
        <p:nvPicPr>
          <p:cNvPr id="11" name="Immagine 10" descr="Immagine che contiene schermata, spazio, Universo, astronomia&#10;&#10;Il contenuto generato dall'IA potrebbe non essere corretto.">
            <a:extLst>
              <a:ext uri="{FF2B5EF4-FFF2-40B4-BE49-F238E27FC236}">
                <a16:creationId xmlns:a16="http://schemas.microsoft.com/office/drawing/2014/main" id="{0ACA6197-0746-B277-D6A4-717A73228E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1556" y="1342616"/>
            <a:ext cx="7409812" cy="386351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E0CB1C7-3934-7FAA-33A9-8926F841A950}"/>
              </a:ext>
            </a:extLst>
          </p:cNvPr>
          <p:cNvSpPr txBox="1"/>
          <p:nvPr/>
        </p:nvSpPr>
        <p:spPr>
          <a:xfrm>
            <a:off x="4051555" y="5206135"/>
            <a:ext cx="32060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Book Antiqua" panose="02040602050305030304" pitchFamily="18" charset="0"/>
              </a:rPr>
              <a:t>True </a:t>
            </a:r>
            <a:r>
              <a:rPr lang="it-IT" sz="1600" dirty="0" err="1">
                <a:latin typeface="Book Antiqua" panose="02040602050305030304" pitchFamily="18" charset="0"/>
              </a:rPr>
              <a:t>Positives</a:t>
            </a:r>
            <a:r>
              <a:rPr lang="it-IT" sz="1600" dirty="0">
                <a:latin typeface="Book Antiqua" panose="02040602050305030304" pitchFamily="18" charset="0"/>
              </a:rPr>
              <a:t>: 17 </a:t>
            </a:r>
          </a:p>
          <a:p>
            <a:r>
              <a:rPr lang="it-IT" sz="1600" dirty="0">
                <a:latin typeface="Book Antiqua" panose="02040602050305030304" pitchFamily="18" charset="0"/>
              </a:rPr>
              <a:t>False </a:t>
            </a:r>
            <a:r>
              <a:rPr lang="it-IT" sz="1600" dirty="0" err="1">
                <a:latin typeface="Book Antiqua" panose="02040602050305030304" pitchFamily="18" charset="0"/>
              </a:rPr>
              <a:t>Positives</a:t>
            </a:r>
            <a:r>
              <a:rPr lang="it-IT" sz="1600" dirty="0">
                <a:latin typeface="Book Antiqua" panose="02040602050305030304" pitchFamily="18" charset="0"/>
              </a:rPr>
              <a:t>: 4 </a:t>
            </a:r>
          </a:p>
          <a:p>
            <a:r>
              <a:rPr lang="it-IT" sz="1600" dirty="0">
                <a:latin typeface="Book Antiqua" panose="02040602050305030304" pitchFamily="18" charset="0"/>
              </a:rPr>
              <a:t>False </a:t>
            </a:r>
            <a:r>
              <a:rPr lang="it-IT" sz="1600" dirty="0" err="1">
                <a:latin typeface="Book Antiqua" panose="02040602050305030304" pitchFamily="18" charset="0"/>
              </a:rPr>
              <a:t>Negatives</a:t>
            </a:r>
            <a:r>
              <a:rPr lang="it-IT" sz="1600" dirty="0">
                <a:latin typeface="Book Antiqua" panose="02040602050305030304" pitchFamily="18" charset="0"/>
              </a:rPr>
              <a:t>: 305 </a:t>
            </a:r>
          </a:p>
          <a:p>
            <a:r>
              <a:rPr lang="it-IT" sz="1600" dirty="0">
                <a:latin typeface="Book Antiqua" panose="02040602050305030304" pitchFamily="18" charset="0"/>
              </a:rPr>
              <a:t>Precision: 80.95% </a:t>
            </a:r>
          </a:p>
          <a:p>
            <a:r>
              <a:rPr lang="it-IT" sz="1600" dirty="0">
                <a:latin typeface="Book Antiqua" panose="02040602050305030304" pitchFamily="18" charset="0"/>
              </a:rPr>
              <a:t>Recall: 5.28% </a:t>
            </a:r>
          </a:p>
          <a:p>
            <a:r>
              <a:rPr lang="it-IT" sz="1600" dirty="0">
                <a:latin typeface="Book Antiqua" panose="02040602050305030304" pitchFamily="18" charset="0"/>
              </a:rPr>
              <a:t>F1-Score: 9.91%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6748FEE-9B3D-9CA5-3A11-9B5F2BD241CC}"/>
              </a:ext>
            </a:extLst>
          </p:cNvPr>
          <p:cNvSpPr txBox="1"/>
          <p:nvPr/>
        </p:nvSpPr>
        <p:spPr>
          <a:xfrm>
            <a:off x="7861314" y="5261890"/>
            <a:ext cx="33212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Book Antiqua" panose="02040602050305030304" pitchFamily="18" charset="0"/>
              </a:rPr>
              <a:t>True </a:t>
            </a:r>
            <a:r>
              <a:rPr lang="it-IT" sz="1600" dirty="0" err="1">
                <a:latin typeface="Book Antiqua" panose="02040602050305030304" pitchFamily="18" charset="0"/>
              </a:rPr>
              <a:t>Positives</a:t>
            </a:r>
            <a:r>
              <a:rPr lang="it-IT" sz="1600" dirty="0">
                <a:latin typeface="Book Antiqua" panose="02040602050305030304" pitchFamily="18" charset="0"/>
              </a:rPr>
              <a:t>: 1 </a:t>
            </a:r>
          </a:p>
          <a:p>
            <a:r>
              <a:rPr lang="it-IT" sz="1600" dirty="0">
                <a:latin typeface="Book Antiqua" panose="02040602050305030304" pitchFamily="18" charset="0"/>
              </a:rPr>
              <a:t>False </a:t>
            </a:r>
            <a:r>
              <a:rPr lang="it-IT" sz="1600" dirty="0" err="1">
                <a:latin typeface="Book Antiqua" panose="02040602050305030304" pitchFamily="18" charset="0"/>
              </a:rPr>
              <a:t>Positives</a:t>
            </a:r>
            <a:r>
              <a:rPr lang="it-IT" sz="1600" dirty="0">
                <a:latin typeface="Book Antiqua" panose="02040602050305030304" pitchFamily="18" charset="0"/>
              </a:rPr>
              <a:t>: 1 </a:t>
            </a:r>
          </a:p>
          <a:p>
            <a:r>
              <a:rPr lang="it-IT" sz="1600" dirty="0">
                <a:latin typeface="Book Antiqua" panose="02040602050305030304" pitchFamily="18" charset="0"/>
              </a:rPr>
              <a:t>False </a:t>
            </a:r>
            <a:r>
              <a:rPr lang="it-IT" sz="1600" dirty="0" err="1">
                <a:latin typeface="Book Antiqua" panose="02040602050305030304" pitchFamily="18" charset="0"/>
              </a:rPr>
              <a:t>Negatives</a:t>
            </a:r>
            <a:r>
              <a:rPr lang="it-IT" sz="1600" dirty="0">
                <a:latin typeface="Book Antiqua" panose="02040602050305030304" pitchFamily="18" charset="0"/>
              </a:rPr>
              <a:t>: 311 </a:t>
            </a:r>
          </a:p>
          <a:p>
            <a:r>
              <a:rPr lang="it-IT" sz="1600" dirty="0">
                <a:latin typeface="Book Antiqua" panose="02040602050305030304" pitchFamily="18" charset="0"/>
              </a:rPr>
              <a:t>Precision: 50.00% </a:t>
            </a:r>
          </a:p>
          <a:p>
            <a:r>
              <a:rPr lang="it-IT" sz="1600" dirty="0">
                <a:latin typeface="Book Antiqua" panose="02040602050305030304" pitchFamily="18" charset="0"/>
              </a:rPr>
              <a:t>Recall: 0.32% </a:t>
            </a:r>
          </a:p>
          <a:p>
            <a:r>
              <a:rPr lang="it-IT" sz="1600" dirty="0">
                <a:latin typeface="Book Antiqua" panose="02040602050305030304" pitchFamily="18" charset="0"/>
              </a:rPr>
              <a:t>F1-Score: 0.64% </a:t>
            </a:r>
            <a:br>
              <a:rPr lang="it-IT" sz="1600" dirty="0">
                <a:latin typeface="Book Antiqua" panose="02040602050305030304" pitchFamily="18" charset="0"/>
              </a:rPr>
            </a:br>
            <a:endParaRPr lang="it-IT" sz="1600" dirty="0">
              <a:latin typeface="Book Antiqua" panose="02040602050305030304" pitchFamily="18" charset="0"/>
            </a:endParaRP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674DE9C2-2017-01D7-34BD-F628AA0C2399}"/>
              </a:ext>
            </a:extLst>
          </p:cNvPr>
          <p:cNvCxnSpPr>
            <a:cxnSpLocks/>
          </p:cNvCxnSpPr>
          <p:nvPr/>
        </p:nvCxnSpPr>
        <p:spPr>
          <a:xfrm flipV="1">
            <a:off x="2304339" y="1174071"/>
            <a:ext cx="1753026" cy="66003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947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B9F75-CDB6-89D8-684A-F86F872B3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CD920461-3A1E-7E95-CB66-9F5ED2C232C7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EC14CBC-96D1-D43E-6ECA-578E4A192817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81019A3E-E103-5815-DF97-6445EA90CDC9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1C14CFBC-2E99-BD9F-6B50-47A418FA7BD7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9317195D-6DD8-B701-D916-0B1F1BEF3EDC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25444B06-8B2D-70C2-CEC9-215EA3BBD665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1244E3C-A428-86BC-1B7D-2C3BAE4FD672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6473F1A3-B551-D145-807A-3D8973606B63}"/>
              </a:ext>
            </a:extLst>
          </p:cNvPr>
          <p:cNvGrpSpPr/>
          <p:nvPr/>
        </p:nvGrpSpPr>
        <p:grpSpPr>
          <a:xfrm rot="13500013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16FE0E5F-1486-1E46-4DAB-716BF5042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2A753846-D637-7EED-AB67-C60052EFA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18867CE8-3684-4CA3-454D-7AFDD3CA8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C0817F1F-52E0-24AA-1710-5E6063E72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EF25BB15-C5BE-D95A-955A-4D7403D1F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1C7BD969-0D55-96F5-F0BB-C6E9EB9DC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422A417-4ED5-37AD-594F-569B11829C47}"/>
              </a:ext>
            </a:extLst>
          </p:cNvPr>
          <p:cNvSpPr txBox="1"/>
          <p:nvPr/>
        </p:nvSpPr>
        <p:spPr>
          <a:xfrm>
            <a:off x="3942019" y="640530"/>
            <a:ext cx="793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Book Antiqua" panose="02040602050305030304" pitchFamily="18" charset="0"/>
              </a:rPr>
              <a:t>Final Detection Workflow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4482625-80F1-67CF-B5CB-4CA7E8A0368B}"/>
              </a:ext>
            </a:extLst>
          </p:cNvPr>
          <p:cNvSpPr txBox="1"/>
          <p:nvPr/>
        </p:nvSpPr>
        <p:spPr>
          <a:xfrm>
            <a:off x="4371096" y="2301664"/>
            <a:ext cx="67632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onsolas" panose="020B0609020204030204" pitchFamily="49" charset="0"/>
              </a:rPr>
              <a:t>Estimate </a:t>
            </a:r>
            <a:r>
              <a:rPr lang="it-IT" dirty="0" err="1">
                <a:latin typeface="Consolas" panose="020B0609020204030204" pitchFamily="49" charset="0"/>
              </a:rPr>
              <a:t>noise</a:t>
            </a:r>
            <a:r>
              <a:rPr lang="it-IT" dirty="0">
                <a:latin typeface="Consolas" panose="020B0609020204030204" pitchFamily="49" charset="0"/>
              </a:rPr>
              <a:t> and </a:t>
            </a:r>
            <a:r>
              <a:rPr lang="it-IT" dirty="0" err="1">
                <a:latin typeface="Consolas" panose="020B0609020204030204" pitchFamily="49" charset="0"/>
              </a:rPr>
              <a:t>blur</a:t>
            </a:r>
            <a:endParaRPr lang="it-IT" dirty="0">
              <a:latin typeface="Consolas" panose="020B0609020204030204" pitchFamily="49" charset="0"/>
            </a:endParaRPr>
          </a:p>
          <a:p>
            <a:r>
              <a:rPr lang="it-IT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latin typeface="Consolas" panose="020B0609020204030204" pitchFamily="49" charset="0"/>
              </a:rPr>
              <a:t>noisy</a:t>
            </a:r>
            <a:r>
              <a:rPr lang="it-IT" dirty="0">
                <a:latin typeface="Consolas" panose="020B0609020204030204" pitchFamily="49" charset="0"/>
              </a:rPr>
              <a:t> → </a:t>
            </a:r>
            <a:r>
              <a:rPr lang="it-IT" dirty="0" err="1">
                <a:latin typeface="Consolas" panose="020B0609020204030204" pitchFamily="49" charset="0"/>
              </a:rPr>
              <a:t>denoise</a:t>
            </a:r>
            <a:endParaRPr lang="it-IT" dirty="0">
              <a:latin typeface="Consolas" panose="020B0609020204030204" pitchFamily="49" charset="0"/>
            </a:endParaRPr>
          </a:p>
          <a:p>
            <a:r>
              <a:rPr lang="it-IT" dirty="0">
                <a:latin typeface="Consolas" panose="020B0609020204030204" pitchFamily="49" charset="0"/>
              </a:rPr>
              <a:t>    </a:t>
            </a:r>
            <a:r>
              <a:rPr lang="it-IT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latin typeface="Consolas" panose="020B0609020204030204" pitchFamily="49" charset="0"/>
              </a:rPr>
              <a:t>blurred</a:t>
            </a:r>
            <a:r>
              <a:rPr lang="it-IT" dirty="0">
                <a:latin typeface="Consolas" panose="020B0609020204030204" pitchFamily="49" charset="0"/>
              </a:rPr>
              <a:t> → </a:t>
            </a:r>
            <a:r>
              <a:rPr lang="it-IT" dirty="0" err="1">
                <a:latin typeface="Consolas" panose="020B0609020204030204" pitchFamily="49" charset="0"/>
              </a:rPr>
              <a:t>adaptive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latin typeface="Consolas" panose="020B0609020204030204" pitchFamily="49" charset="0"/>
              </a:rPr>
              <a:t>multiscale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latin typeface="Consolas" panose="020B0609020204030204" pitchFamily="49" charset="0"/>
              </a:rPr>
              <a:t>detection</a:t>
            </a:r>
            <a:endParaRPr lang="it-IT" dirty="0">
              <a:latin typeface="Consolas" panose="020B0609020204030204" pitchFamily="49" charset="0"/>
            </a:endParaRPr>
          </a:p>
          <a:p>
            <a:r>
              <a:rPr lang="it-IT" dirty="0">
                <a:latin typeface="Consolas" panose="020B0609020204030204" pitchFamily="49" charset="0"/>
              </a:rPr>
              <a:t>    </a:t>
            </a:r>
            <a:r>
              <a:rPr lang="it-IT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it-IT" dirty="0">
                <a:latin typeface="Consolas" panose="020B0609020204030204" pitchFamily="49" charset="0"/>
              </a:rPr>
              <a:t> → </a:t>
            </a:r>
            <a:r>
              <a:rPr lang="it-IT" dirty="0" err="1">
                <a:latin typeface="Consolas" panose="020B0609020204030204" pitchFamily="49" charset="0"/>
              </a:rPr>
              <a:t>multiscale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latin typeface="Consolas" panose="020B0609020204030204" pitchFamily="49" charset="0"/>
              </a:rPr>
              <a:t>detection</a:t>
            </a:r>
            <a:endParaRPr lang="it-IT" dirty="0">
              <a:latin typeface="Consolas" panose="020B0609020204030204" pitchFamily="49" charset="0"/>
            </a:endParaRPr>
          </a:p>
          <a:p>
            <a:r>
              <a:rPr lang="it-IT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it-IT" dirty="0">
                <a:latin typeface="Consolas" panose="020B0609020204030204" pitchFamily="49" charset="0"/>
              </a:rPr>
              <a:t>    </a:t>
            </a:r>
            <a:r>
              <a:rPr lang="it-IT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latin typeface="Consolas" panose="020B0609020204030204" pitchFamily="49" charset="0"/>
              </a:rPr>
              <a:t>clean</a:t>
            </a:r>
            <a:r>
              <a:rPr lang="it-IT" dirty="0">
                <a:latin typeface="Consolas" panose="020B0609020204030204" pitchFamily="49" charset="0"/>
              </a:rPr>
              <a:t> → </a:t>
            </a:r>
            <a:r>
              <a:rPr lang="it-IT" dirty="0" err="1">
                <a:latin typeface="Consolas" panose="020B0609020204030204" pitchFamily="49" charset="0"/>
              </a:rPr>
              <a:t>local</a:t>
            </a:r>
            <a:r>
              <a:rPr lang="it-IT" dirty="0">
                <a:latin typeface="Consolas" panose="020B0609020204030204" pitchFamily="49" charset="0"/>
              </a:rPr>
              <a:t> maxima</a:t>
            </a:r>
          </a:p>
          <a:p>
            <a:r>
              <a:rPr lang="it-IT" dirty="0">
                <a:latin typeface="Consolas" panose="020B0609020204030204" pitchFamily="49" charset="0"/>
              </a:rPr>
              <a:t>    </a:t>
            </a:r>
            <a:r>
              <a:rPr lang="it-IT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it-IT" dirty="0">
                <a:latin typeface="Consolas" panose="020B0609020204030204" pitchFamily="49" charset="0"/>
              </a:rPr>
              <a:t> → </a:t>
            </a:r>
            <a:r>
              <a:rPr lang="it-IT" dirty="0" err="1">
                <a:latin typeface="Consolas" panose="020B0609020204030204" pitchFamily="49" charset="0"/>
              </a:rPr>
              <a:t>adaptive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latin typeface="Consolas" panose="020B0609020204030204" pitchFamily="49" charset="0"/>
              </a:rPr>
              <a:t>multiscale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latin typeface="Consolas" panose="020B0609020204030204" pitchFamily="49" charset="0"/>
              </a:rPr>
              <a:t>detection</a:t>
            </a:r>
            <a:endParaRPr lang="it-IT" dirty="0">
              <a:latin typeface="Consolas" panose="020B0609020204030204" pitchFamily="49" charset="0"/>
            </a:endParaRPr>
          </a:p>
          <a:p>
            <a:r>
              <a:rPr lang="it-IT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it-IT" dirty="0">
                <a:latin typeface="Consolas" panose="020B0609020204030204" pitchFamily="49" charset="0"/>
              </a:rPr>
              <a:t> stars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8F36A5C5-CA45-8176-EDB1-795A17AC18AE}"/>
              </a:ext>
            </a:extLst>
          </p:cNvPr>
          <p:cNvCxnSpPr>
            <a:cxnSpLocks/>
          </p:cNvCxnSpPr>
          <p:nvPr/>
        </p:nvCxnSpPr>
        <p:spPr>
          <a:xfrm flipV="1">
            <a:off x="2304339" y="1174071"/>
            <a:ext cx="1753026" cy="66003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CA20438E-0EAD-7109-EAFE-0B8D051E1321}"/>
              </a:ext>
            </a:extLst>
          </p:cNvPr>
          <p:cNvCxnSpPr>
            <a:cxnSpLocks/>
          </p:cNvCxnSpPr>
          <p:nvPr/>
        </p:nvCxnSpPr>
        <p:spPr>
          <a:xfrm flipV="1">
            <a:off x="4371096" y="2382002"/>
            <a:ext cx="11144" cy="218734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186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80170-BC8F-DD45-DC67-ABC280A8A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44429D8F-9C83-5694-D596-FEE90994F4AA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604CDDF-74FD-1E45-D1FE-E34E09B6F817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49A146D4-AC81-0F65-DB58-AD1550A68909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0AB99E12-7BB8-2FB7-7498-60D87FE38058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0F4415F9-E286-F3B3-5C1F-2B1DB5BBA85A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28324A0C-B6E7-2DB1-44A5-9EF1F931B96E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BF5E62CD-555C-4A10-8BD5-841CF97470FC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0D870E95-9FCF-90A3-EED5-3BCD78CB62BF}"/>
              </a:ext>
            </a:extLst>
          </p:cNvPr>
          <p:cNvGrpSpPr/>
          <p:nvPr/>
        </p:nvGrpSpPr>
        <p:grpSpPr>
          <a:xfrm rot="9205154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D88652B2-B373-C824-5A7F-217F7E56D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2748063A-1F67-5E64-3DC0-64282C223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2EBDA3F1-FBEC-7DC8-1A97-D91811C57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22E2F8DB-7836-D84B-3BBE-A4ED6A7C1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4CECCA03-F735-9B76-2133-02ED0A85A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1057DE70-977C-C5E2-A70A-BF44B370D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052FBC0-51EA-E169-253F-63136BFCEE75}"/>
              </a:ext>
            </a:extLst>
          </p:cNvPr>
          <p:cNvSpPr txBox="1"/>
          <p:nvPr/>
        </p:nvSpPr>
        <p:spPr>
          <a:xfrm>
            <a:off x="5265083" y="874702"/>
            <a:ext cx="4175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Dataset Structure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05E419B8-D6D5-D327-7725-561F9091D8E9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2FBCED0-3C5D-072C-5C6D-FBAAF2373D80}"/>
              </a:ext>
            </a:extLst>
          </p:cNvPr>
          <p:cNvSpPr txBox="1"/>
          <p:nvPr/>
        </p:nvSpPr>
        <p:spPr>
          <a:xfrm>
            <a:off x="4937460" y="1772438"/>
            <a:ext cx="72482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t-IT" altLang="it-IT" dirty="0" err="1">
                <a:latin typeface="Book Antiqua" panose="02040602050305030304" pitchFamily="18" charset="0"/>
              </a:rPr>
              <a:t>Composed</a:t>
            </a:r>
            <a:r>
              <a:rPr lang="it-IT" altLang="it-IT" dirty="0">
                <a:latin typeface="Book Antiqua" panose="02040602050305030304" pitchFamily="18" charset="0"/>
              </a:rPr>
              <a:t> by </a:t>
            </a:r>
            <a:r>
              <a:rPr lang="it-IT" altLang="it-IT" dirty="0" err="1">
                <a:latin typeface="Book Antiqua" panose="02040602050305030304" pitchFamily="18" charset="0"/>
              </a:rPr>
              <a:t>synthetic</a:t>
            </a:r>
            <a:r>
              <a:rPr lang="it-IT" altLang="it-IT" dirty="0">
                <a:latin typeface="Book Antiqua" panose="02040602050305030304" pitchFamily="18" charset="0"/>
              </a:rPr>
              <a:t> star-field images </a:t>
            </a:r>
            <a:r>
              <a:rPr lang="it-IT" altLang="it-IT" dirty="0" err="1">
                <a:latin typeface="Book Antiqua" panose="02040602050305030304" pitchFamily="18" charset="0"/>
              </a:rPr>
              <a:t>generated</a:t>
            </a:r>
            <a:r>
              <a:rPr lang="it-IT" altLang="it-IT" dirty="0">
                <a:latin typeface="Book Antiqua" panose="02040602050305030304" pitchFamily="18" charset="0"/>
              </a:rPr>
              <a:t> by </a:t>
            </a:r>
            <a:r>
              <a:rPr lang="it-IT" altLang="it-IT" dirty="0" err="1">
                <a:latin typeface="Book Antiqua" panose="02040602050305030304" pitchFamily="18" charset="0"/>
              </a:rPr>
              <a:t>varying</a:t>
            </a:r>
            <a:r>
              <a:rPr lang="it-IT" altLang="it-IT" dirty="0">
                <a:latin typeface="Book Antiqua" panose="02040602050305030304" pitchFamily="18" charset="0"/>
              </a:rPr>
              <a:t> </a:t>
            </a:r>
            <a:r>
              <a:rPr lang="it-IT" altLang="it-IT" b="1" dirty="0" err="1">
                <a:latin typeface="Book Antiqua" panose="02040602050305030304" pitchFamily="18" charset="0"/>
              </a:rPr>
              <a:t>sky</a:t>
            </a:r>
            <a:r>
              <a:rPr lang="it-IT" altLang="it-IT" b="1" dirty="0">
                <a:latin typeface="Book Antiqua" panose="02040602050305030304" pitchFamily="18" charset="0"/>
              </a:rPr>
              <a:t> position (RA, DEC, ROLL)</a:t>
            </a:r>
            <a:r>
              <a:rPr lang="it-IT" altLang="it-IT" dirty="0">
                <a:latin typeface="Book Antiqua" panose="02040602050305030304" pitchFamily="18" charset="0"/>
              </a:rPr>
              <a:t> and </a:t>
            </a:r>
            <a:r>
              <a:rPr lang="it-IT" altLang="it-IT" b="1" dirty="0">
                <a:latin typeface="Book Antiqua" panose="02040602050305030304" pitchFamily="18" charset="0"/>
              </a:rPr>
              <a:t>imaging </a:t>
            </a:r>
            <a:r>
              <a:rPr lang="it-IT" altLang="it-IT" b="1" dirty="0" err="1">
                <a:latin typeface="Book Antiqua" panose="02040602050305030304" pitchFamily="18" charset="0"/>
              </a:rPr>
              <a:t>conditions</a:t>
            </a:r>
            <a:r>
              <a:rPr lang="it-IT" altLang="it-IT" dirty="0">
                <a:latin typeface="Book Antiqua" panose="02040602050305030304" pitchFamily="18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it-IT" altLang="it-IT" dirty="0">
              <a:latin typeface="Book Antiqua" panose="0204060205030503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t-IT" altLang="it-IT" dirty="0">
                <a:latin typeface="Book Antiqua" panose="02040602050305030304" pitchFamily="18" charset="0"/>
              </a:rPr>
              <a:t>Stars are </a:t>
            </a:r>
            <a:r>
              <a:rPr lang="it-IT" altLang="it-IT" dirty="0" err="1">
                <a:latin typeface="Book Antiqua" panose="02040602050305030304" pitchFamily="18" charset="0"/>
              </a:rPr>
              <a:t>always</a:t>
            </a:r>
            <a:r>
              <a:rPr lang="it-IT" altLang="it-IT" dirty="0">
                <a:latin typeface="Book Antiqua" panose="02040602050305030304" pitchFamily="18" charset="0"/>
              </a:rPr>
              <a:t> </a:t>
            </a:r>
            <a:r>
              <a:rPr lang="it-IT" altLang="it-IT" dirty="0" err="1">
                <a:latin typeface="Book Antiqua" panose="02040602050305030304" pitchFamily="18" charset="0"/>
              </a:rPr>
              <a:t>visible</a:t>
            </a:r>
            <a:r>
              <a:rPr lang="it-IT" altLang="it-IT" dirty="0">
                <a:latin typeface="Book Antiqua" panose="02040602050305030304" pitchFamily="18" charset="0"/>
              </a:rPr>
              <a:t> to the </a:t>
            </a:r>
            <a:r>
              <a:rPr lang="it-IT" altLang="it-IT" dirty="0" err="1">
                <a:latin typeface="Book Antiqua" panose="02040602050305030304" pitchFamily="18" charset="0"/>
              </a:rPr>
              <a:t>naked</a:t>
            </a:r>
            <a:r>
              <a:rPr lang="it-IT" altLang="it-IT" dirty="0">
                <a:latin typeface="Book Antiqua" panose="02040602050305030304" pitchFamily="18" charset="0"/>
              </a:rPr>
              <a:t> </a:t>
            </a:r>
            <a:r>
              <a:rPr lang="it-IT" altLang="it-IT" dirty="0" err="1">
                <a:latin typeface="Book Antiqua" panose="02040602050305030304" pitchFamily="18" charset="0"/>
              </a:rPr>
              <a:t>eye</a:t>
            </a:r>
            <a:r>
              <a:rPr lang="it-IT" altLang="it-IT" dirty="0">
                <a:latin typeface="Book Antiqua" panose="02040602050305030304" pitchFamily="18" charset="0"/>
              </a:rPr>
              <a:t> </a:t>
            </a:r>
            <a:r>
              <a:rPr lang="it-IT" altLang="it-IT" dirty="0" err="1">
                <a:latin typeface="Book Antiqua" panose="02040602050305030304" pitchFamily="18" charset="0"/>
              </a:rPr>
              <a:t>while</a:t>
            </a:r>
            <a:r>
              <a:rPr lang="it-IT" altLang="it-IT" dirty="0">
                <a:latin typeface="Book Antiqua" panose="02040602050305030304" pitchFamily="18" charset="0"/>
              </a:rPr>
              <a:t> </a:t>
            </a:r>
            <a:r>
              <a:rPr lang="it-IT" altLang="it-IT" b="1" dirty="0" err="1">
                <a:latin typeface="Book Antiqua" panose="02040602050305030304" pitchFamily="18" charset="0"/>
              </a:rPr>
              <a:t>noise</a:t>
            </a:r>
            <a:r>
              <a:rPr lang="it-IT" altLang="it-IT" b="1" dirty="0">
                <a:latin typeface="Book Antiqua" panose="02040602050305030304" pitchFamily="18" charset="0"/>
              </a:rPr>
              <a:t>, </a:t>
            </a:r>
            <a:r>
              <a:rPr lang="it-IT" altLang="it-IT" b="1" dirty="0" err="1">
                <a:latin typeface="Book Antiqua" panose="02040602050305030304" pitchFamily="18" charset="0"/>
              </a:rPr>
              <a:t>blur</a:t>
            </a:r>
            <a:r>
              <a:rPr lang="it-IT" altLang="it-IT" b="1" dirty="0">
                <a:latin typeface="Book Antiqua" panose="02040602050305030304" pitchFamily="18" charset="0"/>
              </a:rPr>
              <a:t>, and dark </a:t>
            </a:r>
            <a:r>
              <a:rPr lang="it-IT" altLang="it-IT" b="1" dirty="0" err="1">
                <a:latin typeface="Book Antiqua" panose="02040602050305030304" pitchFamily="18" charset="0"/>
              </a:rPr>
              <a:t>current</a:t>
            </a:r>
            <a:r>
              <a:rPr lang="it-IT" altLang="it-IT" dirty="0">
                <a:latin typeface="Book Antiqua" panose="02040602050305030304" pitchFamily="18" charset="0"/>
              </a:rPr>
              <a:t> simulate </a:t>
            </a:r>
            <a:r>
              <a:rPr lang="it-IT" altLang="it-IT" dirty="0" err="1">
                <a:latin typeface="Book Antiqua" panose="02040602050305030304" pitchFamily="18" charset="0"/>
              </a:rPr>
              <a:t>realistic</a:t>
            </a:r>
            <a:r>
              <a:rPr lang="it-IT" altLang="it-IT" dirty="0">
                <a:latin typeface="Book Antiqua" panose="02040602050305030304" pitchFamily="18" charset="0"/>
              </a:rPr>
              <a:t> </a:t>
            </a:r>
            <a:r>
              <a:rPr lang="it-IT" altLang="it-IT" dirty="0" err="1">
                <a:latin typeface="Book Antiqua" panose="02040602050305030304" pitchFamily="18" charset="0"/>
              </a:rPr>
              <a:t>scenarios</a:t>
            </a:r>
            <a:r>
              <a:rPr lang="it-IT" altLang="it-IT" dirty="0">
                <a:latin typeface="Book Antiqua" panose="02040602050305030304" pitchFamily="18" charset="0"/>
              </a:rPr>
              <a:t>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ADFC159-99E7-C63E-697B-35EA8902F5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35"/>
          <a:stretch>
            <a:fillRect/>
          </a:stretch>
        </p:blipFill>
        <p:spPr>
          <a:xfrm>
            <a:off x="7712201" y="3429000"/>
            <a:ext cx="4096322" cy="294256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5824C1A7-A6A4-6604-0E6D-CFABEAC5CFF8}"/>
              </a:ext>
            </a:extLst>
          </p:cNvPr>
          <p:cNvSpPr txBox="1"/>
          <p:nvPr/>
        </p:nvSpPr>
        <p:spPr>
          <a:xfrm>
            <a:off x="2967716" y="3790508"/>
            <a:ext cx="4828723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t-IT" altLang="it-IT" dirty="0">
                <a:latin typeface="Book Antiqua" panose="02040602050305030304" pitchFamily="18" charset="0"/>
              </a:rPr>
              <a:t>AAA0–AAA6 → </a:t>
            </a:r>
            <a:r>
              <a:rPr lang="it-IT" altLang="it-IT" dirty="0" err="1">
                <a:latin typeface="Book Antiqua" panose="02040602050305030304" pitchFamily="18" charset="0"/>
              </a:rPr>
              <a:t>same</a:t>
            </a:r>
            <a:r>
              <a:rPr lang="it-IT" altLang="it-IT" dirty="0">
                <a:latin typeface="Book Antiqua" panose="02040602050305030304" pitchFamily="18" charset="0"/>
              </a:rPr>
              <a:t> </a:t>
            </a:r>
            <a:r>
              <a:rPr lang="it-IT" altLang="it-IT" dirty="0" err="1">
                <a:latin typeface="Book Antiqua" panose="02040602050305030304" pitchFamily="18" charset="0"/>
              </a:rPr>
              <a:t>sky</a:t>
            </a:r>
            <a:r>
              <a:rPr lang="it-IT" altLang="it-IT" dirty="0">
                <a:latin typeface="Book Antiqua" panose="02040602050305030304" pitchFamily="18" charset="0"/>
              </a:rPr>
              <a:t> position, </a:t>
            </a:r>
            <a:r>
              <a:rPr lang="it-IT" altLang="it-IT" dirty="0" err="1">
                <a:latin typeface="Book Antiqua" panose="02040602050305030304" pitchFamily="18" charset="0"/>
              </a:rPr>
              <a:t>different</a:t>
            </a:r>
            <a:r>
              <a:rPr lang="it-IT" altLang="it-IT" dirty="0">
                <a:latin typeface="Book Antiqua" panose="02040602050305030304" pitchFamily="18" charset="0"/>
              </a:rPr>
              <a:t> </a:t>
            </a:r>
            <a:r>
              <a:rPr lang="it-IT" altLang="it-IT" dirty="0" err="1">
                <a:latin typeface="Book Antiqua" panose="02040602050305030304" pitchFamily="18" charset="0"/>
              </a:rPr>
              <a:t>noise</a:t>
            </a:r>
            <a:r>
              <a:rPr lang="it-IT" altLang="it-IT" dirty="0">
                <a:latin typeface="Book Antiqua" panose="02040602050305030304" pitchFamily="18" charset="0"/>
              </a:rPr>
              <a:t> </a:t>
            </a:r>
            <a:r>
              <a:rPr lang="it-IT" altLang="it-IT" dirty="0" err="1">
                <a:latin typeface="Book Antiqua" panose="02040602050305030304" pitchFamily="18" charset="0"/>
              </a:rPr>
              <a:t>levels</a:t>
            </a:r>
            <a:endParaRPr lang="it-IT" altLang="it-IT" dirty="0">
              <a:latin typeface="Book Antiqua" panose="0204060205030503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it-IT" altLang="it-IT" dirty="0">
              <a:latin typeface="Book Antiqua" panose="0204060205030503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t-IT" altLang="it-IT" dirty="0">
                <a:latin typeface="Book Antiqua" panose="02040602050305030304" pitchFamily="18" charset="0"/>
              </a:rPr>
              <a:t>Up to </a:t>
            </a:r>
            <a:r>
              <a:rPr lang="it-IT" altLang="it-IT" b="1" dirty="0">
                <a:latin typeface="Book Antiqua" panose="02040602050305030304" pitchFamily="18" charset="0"/>
              </a:rPr>
              <a:t>26³ </a:t>
            </a:r>
            <a:r>
              <a:rPr lang="it-IT" altLang="it-IT" b="1" dirty="0" err="1">
                <a:latin typeface="Book Antiqua" panose="02040602050305030304" pitchFamily="18" charset="0"/>
              </a:rPr>
              <a:t>unique</a:t>
            </a:r>
            <a:r>
              <a:rPr lang="it-IT" altLang="it-IT" b="1" dirty="0">
                <a:latin typeface="Book Antiqua" panose="02040602050305030304" pitchFamily="18" charset="0"/>
              </a:rPr>
              <a:t> </a:t>
            </a:r>
            <a:r>
              <a:rPr lang="it-IT" altLang="it-IT" b="1" dirty="0" err="1">
                <a:latin typeface="Book Antiqua" panose="02040602050305030304" pitchFamily="18" charset="0"/>
              </a:rPr>
              <a:t>sky</a:t>
            </a:r>
            <a:r>
              <a:rPr lang="it-IT" altLang="it-IT" b="1" dirty="0">
                <a:latin typeface="Book Antiqua" panose="02040602050305030304" pitchFamily="18" charset="0"/>
              </a:rPr>
              <a:t> positions</a:t>
            </a:r>
            <a:endParaRPr lang="it-IT" altLang="it-IT" dirty="0">
              <a:latin typeface="Book Antiqua" panose="0204060205030503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it-IT" altLang="it-IT" dirty="0">
              <a:latin typeface="Book Antiqua" panose="0204060205030503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t-IT" altLang="it-IT" dirty="0">
                <a:latin typeface="Book Antiqua" panose="02040602050305030304" pitchFamily="18" charset="0"/>
              </a:rPr>
              <a:t>Ground-truth </a:t>
            </a:r>
            <a:r>
              <a:rPr lang="it-IT" altLang="it-IT" dirty="0" err="1">
                <a:latin typeface="Book Antiqua" panose="02040602050305030304" pitchFamily="18" charset="0"/>
              </a:rPr>
              <a:t>centroids</a:t>
            </a:r>
            <a:r>
              <a:rPr lang="it-IT" altLang="it-IT" dirty="0">
                <a:latin typeface="Book Antiqua" panose="02040602050305030304" pitchFamily="18" charset="0"/>
              </a:rPr>
              <a:t> </a:t>
            </a:r>
            <a:r>
              <a:rPr lang="it-IT" altLang="it-IT" dirty="0" err="1">
                <a:latin typeface="Book Antiqua" panose="02040602050305030304" pitchFamily="18" charset="0"/>
              </a:rPr>
              <a:t>stored</a:t>
            </a:r>
            <a:r>
              <a:rPr lang="it-IT" altLang="it-IT" dirty="0">
                <a:latin typeface="Book Antiqua" panose="02040602050305030304" pitchFamily="18" charset="0"/>
              </a:rPr>
              <a:t> in</a:t>
            </a:r>
            <a:br>
              <a:rPr lang="it-IT" altLang="it-IT" dirty="0">
                <a:latin typeface="Book Antiqua" panose="02040602050305030304" pitchFamily="18" charset="0"/>
              </a:rPr>
            </a:br>
            <a:r>
              <a:rPr lang="it-IT" altLang="it-IT" sz="1600" u="sng" dirty="0">
                <a:latin typeface="Book Antiqua" panose="02040602050305030304" pitchFamily="18" charset="0"/>
              </a:rPr>
              <a:t>dataset/</a:t>
            </a:r>
            <a:r>
              <a:rPr lang="it-IT" altLang="it-IT" sz="1600" u="sng" dirty="0" err="1">
                <a:latin typeface="Book Antiqua" panose="02040602050305030304" pitchFamily="18" charset="0"/>
              </a:rPr>
              <a:t>centroid</a:t>
            </a:r>
            <a:r>
              <a:rPr lang="it-IT" altLang="it-IT" sz="1600" u="sng" dirty="0">
                <a:latin typeface="Book Antiqua" panose="02040602050305030304" pitchFamily="18" charset="0"/>
              </a:rPr>
              <a:t>/</a:t>
            </a:r>
            <a:r>
              <a:rPr lang="it-IT" altLang="it-IT" sz="1600" u="sng" dirty="0" err="1">
                <a:latin typeface="Book Antiqua" panose="02040602050305030304" pitchFamily="18" charset="0"/>
              </a:rPr>
              <a:t>centroid</a:t>
            </a:r>
            <a:r>
              <a:rPr lang="it-IT" altLang="it-IT" sz="1600" u="sng" dirty="0">
                <a:latin typeface="Book Antiqua" panose="02040602050305030304" pitchFamily="18" charset="0"/>
              </a:rPr>
              <a:t>_&lt;IMAGE_ID&gt;.csv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2699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6C1A3-3173-FACF-C06D-AE0369452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D71CB441-AA32-46F5-508B-24E98A9D4FEA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57540E9-4391-4990-C3D1-434268BD414B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43DB8A26-8396-5184-2A19-4098504DE012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F99B402D-588E-DF35-1F80-AA859960F465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27D2317C-5463-944D-E9E4-480C21CE1364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803E9B31-91D7-9D9D-36FD-FF2D2ACF51E7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3B4C53F-9536-3C7D-125F-FFEF4304DBCD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8290445A-699F-847C-FF0F-80FB24B4F29B}"/>
              </a:ext>
            </a:extLst>
          </p:cNvPr>
          <p:cNvGrpSpPr/>
          <p:nvPr/>
        </p:nvGrpSpPr>
        <p:grpSpPr>
          <a:xfrm rot="4943618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EAC79AA5-35F6-3B42-6A2B-29D60A880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12CA911A-5BD5-9D5C-9B5A-C51CDD45F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0159D3D3-1D36-9779-B000-B4F9FDF1D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C3A4AC1A-A84B-876B-191D-4C3328EDD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2ABF37FF-2F17-61D2-A218-B57FB576B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F4A82931-97EC-D466-1AEE-3EC35A8E4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EA11BD1-B2DD-9F28-CE24-467A729FB837}"/>
              </a:ext>
            </a:extLst>
          </p:cNvPr>
          <p:cNvSpPr txBox="1"/>
          <p:nvPr/>
        </p:nvSpPr>
        <p:spPr>
          <a:xfrm>
            <a:off x="5265082" y="874702"/>
            <a:ext cx="5193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BDBC115C-22FB-3768-4FCF-85D628055803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10">
            <a:extLst>
              <a:ext uri="{FF2B5EF4-FFF2-40B4-BE49-F238E27FC236}">
                <a16:creationId xmlns:a16="http://schemas.microsoft.com/office/drawing/2014/main" id="{BE6A4E0A-91EC-8B88-1B70-80F5AA7EA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9523" y="1914062"/>
            <a:ext cx="63785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it-IT" altLang="it-IT" sz="1600">
                <a:solidFill>
                  <a:srgbClr val="000000"/>
                </a:solidFill>
                <a:cs typeface="Calibri" panose="020F0502020204030204" pitchFamily="34" charset="0"/>
              </a:rPr>
              <a:t>The spatial distribution of a star is described by the Point Spread Function</a:t>
            </a:r>
            <a:endParaRPr lang="it-IT" altLang="it-IT">
              <a:solidFill>
                <a:srgbClr val="000000"/>
              </a:solidFill>
            </a:endParaRPr>
          </a:p>
          <a:p>
            <a:pPr eaLnBrk="1" hangingPunct="1"/>
            <a:endParaRPr lang="it-IT" altLang="it-IT" sz="160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pic>
        <p:nvPicPr>
          <p:cNvPr id="5" name="Immagine 4" descr="Immagine che contiene testo, schermata, quadrat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BA09E133-CF0A-C289-AF3B-3DE4E72206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185" y="2515724"/>
            <a:ext cx="3733800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magine 5" descr="Immagine che contiene testo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21F028E7-D165-757C-77CC-A8FD2CE569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735" y="2515724"/>
            <a:ext cx="3857625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8364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E8018-3275-E9C5-A12B-BBF51135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EE660FEE-AC5A-41B6-2D6E-7A250BC8AC8E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3B4D6FBB-1E2F-0876-731E-9DE6172DD6A9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6F6A039E-9A78-43BA-45A0-7CB4985209FB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FAD8C1A1-8B1B-0BA1-BB5C-D2C97F3CC548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FAA76A30-96EA-F666-D33C-847C97FD640B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721E748B-0498-7380-674E-B0DF62F7D133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DABE655-5D57-B828-8BEC-5826523D8864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4602EB1D-CED2-4888-B129-B6E191910603}"/>
              </a:ext>
            </a:extLst>
          </p:cNvPr>
          <p:cNvGrpSpPr/>
          <p:nvPr/>
        </p:nvGrpSpPr>
        <p:grpSpPr>
          <a:xfrm rot="4943618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A3DF544C-B11F-8998-7340-8786267CF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FE783A81-53E5-4540-D107-636DBEF45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83DE6530-5012-FC04-EC2C-086282586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1319075C-BA16-3ADD-E58C-01C6C0E21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257CD87A-14A9-F644-050D-2352792A5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F8DB0355-5940-2EE4-0EE9-6CF0A568C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6025C91-3057-77B0-C310-153FB61C7623}"/>
              </a:ext>
            </a:extLst>
          </p:cNvPr>
          <p:cNvSpPr txBox="1"/>
          <p:nvPr/>
        </p:nvSpPr>
        <p:spPr>
          <a:xfrm>
            <a:off x="5265082" y="874702"/>
            <a:ext cx="5193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F33017B2-A386-C54C-8DEA-998F2C819445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10">
            <a:extLst>
              <a:ext uri="{FF2B5EF4-FFF2-40B4-BE49-F238E27FC236}">
                <a16:creationId xmlns:a16="http://schemas.microsoft.com/office/drawing/2014/main" id="{B3BFCA2A-BD01-A1C8-926F-699BDEB8D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611313"/>
            <a:ext cx="72310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it-IT" altLang="it-IT" sz="1600" dirty="0" err="1">
                <a:solidFill>
                  <a:srgbClr val="000000"/>
                </a:solidFill>
                <a:cs typeface="Calibri" panose="020F0502020204030204" pitchFamily="34" charset="0"/>
              </a:rPr>
              <a:t>We</a:t>
            </a:r>
            <a:r>
              <a:rPr lang="it-IT" altLang="it-IT" sz="1600" dirty="0">
                <a:solidFill>
                  <a:srgbClr val="000000"/>
                </a:solidFill>
                <a:cs typeface="Calibri" panose="020F0502020204030204" pitchFamily="34" charset="0"/>
              </a:rPr>
              <a:t> compare a single </a:t>
            </a:r>
            <a:r>
              <a:rPr lang="it-IT" altLang="it-IT" sz="1600" dirty="0" err="1">
                <a:solidFill>
                  <a:srgbClr val="000000"/>
                </a:solidFill>
                <a:cs typeface="Calibri" panose="020F0502020204030204" pitchFamily="34" charset="0"/>
              </a:rPr>
              <a:t>real</a:t>
            </a:r>
            <a:r>
              <a:rPr lang="it-IT" altLang="it-IT" sz="1600" dirty="0">
                <a:solidFill>
                  <a:srgbClr val="000000"/>
                </a:solidFill>
                <a:cs typeface="Calibri" panose="020F0502020204030204" pitchFamily="34" charset="0"/>
              </a:rPr>
              <a:t> star patch </a:t>
            </a:r>
            <a:r>
              <a:rPr lang="it-IT" altLang="it-IT" sz="1600" dirty="0" err="1">
                <a:solidFill>
                  <a:srgbClr val="000000"/>
                </a:solidFill>
                <a:cs typeface="Calibri" panose="020F0502020204030204" pitchFamily="34" charset="0"/>
              </a:rPr>
              <a:t>extracted</a:t>
            </a:r>
            <a:r>
              <a:rPr lang="it-IT" altLang="it-IT" sz="1600" dirty="0">
                <a:solidFill>
                  <a:srgbClr val="000000"/>
                </a:solidFill>
                <a:cs typeface="Calibri" panose="020F0502020204030204" pitchFamily="34" charset="0"/>
              </a:rPr>
              <a:t> from the image with the </a:t>
            </a:r>
            <a:r>
              <a:rPr lang="it-IT" altLang="it-IT" sz="1600" dirty="0" err="1">
                <a:solidFill>
                  <a:srgbClr val="000000"/>
                </a:solidFill>
                <a:cs typeface="Calibri" panose="020F0502020204030204" pitchFamily="34" charset="0"/>
              </a:rPr>
              <a:t>estimated</a:t>
            </a:r>
            <a:r>
              <a:rPr lang="it-IT" altLang="it-IT" sz="1600" dirty="0">
                <a:solidFill>
                  <a:srgbClr val="000000"/>
                </a:solidFill>
                <a:cs typeface="Calibri" panose="020F0502020204030204" pitchFamily="34" charset="0"/>
              </a:rPr>
              <a:t> system PSF.</a:t>
            </a:r>
            <a:endParaRPr lang="it-IT" altLang="it-IT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1" hangingPunct="1"/>
            <a:endParaRPr lang="it-IT" altLang="it-IT" sz="16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1" hangingPunct="1"/>
            <a:r>
              <a:rPr lang="it-IT" altLang="it-IT" sz="1600" dirty="0">
                <a:solidFill>
                  <a:srgbClr val="000000"/>
                </a:solidFill>
                <a:cs typeface="Calibri" panose="020F0502020204030204" pitchFamily="34" charset="0"/>
              </a:rPr>
              <a:t>Image with </a:t>
            </a:r>
            <a:r>
              <a:rPr lang="it-IT" altLang="it-IT" sz="1600" dirty="0" err="1">
                <a:solidFill>
                  <a:srgbClr val="000000"/>
                </a:solidFill>
                <a:cs typeface="Calibri" panose="020F0502020204030204" pitchFamily="34" charset="0"/>
              </a:rPr>
              <a:t>atmospere</a:t>
            </a:r>
            <a:r>
              <a:rPr lang="it-IT" altLang="it-IT" sz="1600" dirty="0">
                <a:solidFill>
                  <a:srgbClr val="000000"/>
                </a:solidFill>
                <a:cs typeface="Calibri" panose="020F0502020204030204" pitchFamily="34" charset="0"/>
              </a:rPr>
              <a:t>:</a:t>
            </a:r>
          </a:p>
          <a:p>
            <a:pPr eaLnBrk="1" hangingPunct="1"/>
            <a:endParaRPr lang="it-IT" altLang="it-IT" sz="1600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pic>
        <p:nvPicPr>
          <p:cNvPr id="10" name="Immagine 5" descr="Immagine che contiene testo, schermata, diagramma, Policromia&#10;&#10;Il contenuto generato dall&amp;#39;IA potrebbe non essere corretto.">
            <a:extLst>
              <a:ext uri="{FF2B5EF4-FFF2-40B4-BE49-F238E27FC236}">
                <a16:creationId xmlns:a16="http://schemas.microsoft.com/office/drawing/2014/main" id="{C1EC59D2-FFAF-C28B-FBD5-508924116C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25" y="2928938"/>
            <a:ext cx="82677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46478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681C-4BFE-3A4C-BF82-963E01176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83A2CAF1-3B0B-2840-ACFB-5B4D8A30E929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C3ECE2A-0756-8FB9-E2A7-194366E34404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810AB8B-5842-76F9-DE55-7724A5FEE5F0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E882D494-656D-E74E-28E0-866FCBA74093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4E62F7F0-9775-581E-8671-FE453433C2DA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86DEE8AD-5F80-29A1-68FF-A1EC1B76C088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947D3C9-E7D5-1A51-CFE4-12286C1E0E31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7AFE97E8-A642-88D8-C07C-75D0DF8F55FE}"/>
              </a:ext>
            </a:extLst>
          </p:cNvPr>
          <p:cNvGrpSpPr/>
          <p:nvPr/>
        </p:nvGrpSpPr>
        <p:grpSpPr>
          <a:xfrm rot="4943618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20057E87-177A-7FEC-4843-4A11E2F27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92DC2827-D93F-4DAA-D029-50AEDF0EA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09C96604-5F5C-5288-0869-1458B1F42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F87FD659-59E7-1C30-9481-FCFA46636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A32CAB13-A47B-87FC-D86D-2ADD99FAA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8D96EFA3-B1B2-632F-FA6E-C5E8469D5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AE771E9-DA33-0834-657D-90A8114188B6}"/>
              </a:ext>
            </a:extLst>
          </p:cNvPr>
          <p:cNvSpPr txBox="1"/>
          <p:nvPr/>
        </p:nvSpPr>
        <p:spPr>
          <a:xfrm>
            <a:off x="5265082" y="874702"/>
            <a:ext cx="5193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2FEB426A-316E-7B42-9277-1109445FBF0D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10">
            <a:extLst>
              <a:ext uri="{FF2B5EF4-FFF2-40B4-BE49-F238E27FC236}">
                <a16:creationId xmlns:a16="http://schemas.microsoft.com/office/drawing/2014/main" id="{99CF04E7-0D21-7F7D-76B1-A0AAA63DE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611313"/>
            <a:ext cx="72310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it-IT" altLang="it-IT" sz="1600">
                <a:solidFill>
                  <a:srgbClr val="000000"/>
                </a:solidFill>
                <a:cs typeface="Calibri" panose="020F0502020204030204" pitchFamily="34" charset="0"/>
              </a:rPr>
              <a:t>We compare a single real star patch extracted from the image with the estimated system PSF.</a:t>
            </a:r>
            <a:endParaRPr lang="it-IT" altLang="it-IT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1" hangingPunct="1"/>
            <a:endParaRPr lang="it-IT" altLang="it-IT" sz="160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1" hangingPunct="1"/>
            <a:r>
              <a:rPr lang="it-IT" altLang="it-IT" sz="1600">
                <a:solidFill>
                  <a:srgbClr val="000000"/>
                </a:solidFill>
                <a:cs typeface="Calibri" panose="020F0502020204030204" pitchFamily="34" charset="0"/>
              </a:rPr>
              <a:t>Image with noise:</a:t>
            </a:r>
          </a:p>
          <a:p>
            <a:pPr eaLnBrk="1" hangingPunct="1"/>
            <a:endParaRPr lang="it-IT" altLang="it-IT" sz="160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pic>
        <p:nvPicPr>
          <p:cNvPr id="5" name="Immagine 2" descr="Immagine che contiene schermata, testo, diagramma, Policromia&#10;&#10;Il contenuto generato dall&amp;#39;IA potrebbe non essere corretto.">
            <a:extLst>
              <a:ext uri="{FF2B5EF4-FFF2-40B4-BE49-F238E27FC236}">
                <a16:creationId xmlns:a16="http://schemas.microsoft.com/office/drawing/2014/main" id="{2808687E-99E1-8477-9848-9055EE4252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25" y="2928938"/>
            <a:ext cx="8253413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07769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3B6C3-18E7-5A82-97B7-D25C965D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ECCB0FFE-7210-3466-F67A-21600E84985E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0ED1D93-1EB4-3D09-4DF8-D61036EEAF7D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3858747C-E50E-8529-F130-1CC6D5E47108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CB5A922A-D54B-FA4F-87AD-08B58683F46E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42C35F0B-98F2-D6F5-8036-1E4878B70012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440EB81B-8429-042D-3014-D4CEA8EB7111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BEFB9F60-223E-AFA0-81D5-BBDA55907CD3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F715FAB5-F7C2-645C-2359-DF5C28E699E7}"/>
              </a:ext>
            </a:extLst>
          </p:cNvPr>
          <p:cNvGrpSpPr/>
          <p:nvPr/>
        </p:nvGrpSpPr>
        <p:grpSpPr>
          <a:xfrm rot="4943618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93DBFCB3-FE28-9D4C-751C-A8761EA23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F054CA9C-B5DC-070E-FD52-D79A91AED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CBE4A205-F608-3935-95F7-03D0F720F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E035212D-A89C-08A6-1A8E-14D87E85A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0460587C-405C-B152-88E9-9D909E5F4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61F78435-9865-1EFD-839B-F9F5C35E3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8239C83-B93A-2FDF-CAA8-D727C6A236A7}"/>
              </a:ext>
            </a:extLst>
          </p:cNvPr>
          <p:cNvSpPr txBox="1"/>
          <p:nvPr/>
        </p:nvSpPr>
        <p:spPr>
          <a:xfrm>
            <a:off x="5265082" y="874702"/>
            <a:ext cx="5193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0B33A7BD-A0CD-37B0-2E1D-C77730831CB4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10">
            <a:extLst>
              <a:ext uri="{FF2B5EF4-FFF2-40B4-BE49-F238E27FC236}">
                <a16:creationId xmlns:a16="http://schemas.microsoft.com/office/drawing/2014/main" id="{520AC09E-A69C-D816-EA02-4413AEF6B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611313"/>
            <a:ext cx="72310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it-IT" altLang="it-IT" sz="1600">
                <a:solidFill>
                  <a:srgbClr val="000000"/>
                </a:solidFill>
                <a:cs typeface="Calibri" panose="020F0502020204030204" pitchFamily="34" charset="0"/>
              </a:rPr>
              <a:t>We compare a single real star patch extracted from the image with the estimated system PSF.</a:t>
            </a:r>
            <a:endParaRPr lang="it-IT" altLang="it-IT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1" hangingPunct="1"/>
            <a:endParaRPr lang="it-IT" altLang="it-IT" sz="160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1" hangingPunct="1"/>
            <a:r>
              <a:rPr lang="it-IT" altLang="it-IT" sz="1600">
                <a:solidFill>
                  <a:srgbClr val="000000"/>
                </a:solidFill>
                <a:cs typeface="Calibri" panose="020F0502020204030204" pitchFamily="34" charset="0"/>
              </a:rPr>
              <a:t>Image with blur:</a:t>
            </a:r>
          </a:p>
          <a:p>
            <a:pPr eaLnBrk="1" hangingPunct="1"/>
            <a:endParaRPr lang="it-IT" altLang="it-IT" sz="160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pic>
        <p:nvPicPr>
          <p:cNvPr id="7" name="Immagine 9" descr="Immagine che contiene schermata, testo, diagramma, Policromia&#10;&#10;Il contenuto generato dall&amp;#39;IA potrebbe non essere corretto.">
            <a:extLst>
              <a:ext uri="{FF2B5EF4-FFF2-40B4-BE49-F238E27FC236}">
                <a16:creationId xmlns:a16="http://schemas.microsoft.com/office/drawing/2014/main" id="{65C368B5-179F-E5DE-3E9A-1FE33BF1FD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25" y="2928938"/>
            <a:ext cx="8253413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47808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3CB41-5B86-ABD1-8327-7FE62C1E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D5FDB8C1-0BD6-BB69-964C-3613CE265690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5197AAF-2437-C7DE-5D21-9A584481F16E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743EC5B2-3069-B6D5-4FB6-2B3A4CCAF87B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0A41A626-3C7D-C21B-1DBD-E913B8D495D2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583CB3EE-88C2-E36F-5EBF-D61536A25A5E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2E49C58F-2FB0-4903-A9B2-D524B0035AED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E86660AD-F338-737A-F7F5-7F8111939997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2C77DD9D-3570-04A8-DF62-31AFE485D00D}"/>
              </a:ext>
            </a:extLst>
          </p:cNvPr>
          <p:cNvGrpSpPr/>
          <p:nvPr/>
        </p:nvGrpSpPr>
        <p:grpSpPr>
          <a:xfrm rot="4943618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062320C9-2EC7-515F-9E95-E5E8D9C54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BAF19043-A183-9198-ECF2-2692CF5D1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E0FC0BB8-8A45-4D7E-528A-1C205A407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FEF9C092-11BB-A8E1-46EB-B38776759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64DA9BFC-62E1-BD4C-783A-4ECB7B285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25B3751F-0CDC-5A62-E318-2158DB7AA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BC6B373E-54F1-AA38-0879-62133582A013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1">
            <a:extLst>
              <a:ext uri="{FF2B5EF4-FFF2-40B4-BE49-F238E27FC236}">
                <a16:creationId xmlns:a16="http://schemas.microsoft.com/office/drawing/2014/main" id="{2019B373-BB24-02D1-ABCF-A3FA1D259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4013" y="862304"/>
            <a:ext cx="6678613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it-IT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Localization:</a:t>
            </a:r>
            <a:r>
              <a:rPr lang="en-US" altLang="it-IT" sz="3600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endParaRPr lang="en-US" altLang="it-IT" sz="2300" dirty="0">
              <a:solidFill>
                <a:srgbClr val="002060"/>
              </a:solidFill>
              <a:latin typeface="Book Antiqua" panose="02040602050305030304" pitchFamily="18" charset="0"/>
            </a:endParaRPr>
          </a:p>
          <a:p>
            <a:pPr eaLnBrk="1" hangingPunct="1"/>
            <a:r>
              <a:rPr lang="en-US" altLang="it-IT" sz="2300" dirty="0">
                <a:solidFill>
                  <a:srgbClr val="002060"/>
                </a:solidFill>
                <a:latin typeface="Book Antiqua" panose="02040602050305030304" pitchFamily="18" charset="0"/>
              </a:rPr>
              <a:t>Local Compensation</a:t>
            </a:r>
          </a:p>
        </p:txBody>
      </p:sp>
      <p:sp>
        <p:nvSpPr>
          <p:cNvPr id="5" name="CasellaDiTesto 10">
            <a:extLst>
              <a:ext uri="{FF2B5EF4-FFF2-40B4-BE49-F238E27FC236}">
                <a16:creationId xmlns:a16="http://schemas.microsoft.com/office/drawing/2014/main" id="{F4C0A9F3-654F-03E4-C590-4923D7A69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6722" y="1871009"/>
            <a:ext cx="66675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it-IT" altLang="it-IT">
                <a:solidFill>
                  <a:srgbClr val="000000"/>
                </a:solidFill>
              </a:rPr>
              <a:t>Technique used to reduce the effect of noise and local intensity variations on star centroid estimation.</a:t>
            </a:r>
            <a:endParaRPr lang="en-US" altLang="it-IT" sz="1600">
              <a:solidFill>
                <a:srgbClr val="000000"/>
              </a:solidFill>
              <a:latin typeface="Book Antiqua" panose="02040602050305030304" pitchFamily="18" charset="0"/>
              <a:cs typeface="Calibri" panose="020F0502020204030204" pitchFamily="34" charset="0"/>
            </a:endParaRPr>
          </a:p>
        </p:txBody>
      </p:sp>
      <p:pic>
        <p:nvPicPr>
          <p:cNvPr id="10" name="Immagine 6" descr="Immagine che contiene testo, Carattere, bianc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DBBCC943-94D9-6D56-E8A9-84765C5EF4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122" y="2818746"/>
            <a:ext cx="2889250" cy="223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asellaDiTesto 9">
            <a:extLst>
              <a:ext uri="{FF2B5EF4-FFF2-40B4-BE49-F238E27FC236}">
                <a16:creationId xmlns:a16="http://schemas.microsoft.com/office/drawing/2014/main" id="{6D27BF33-82A6-623F-9130-61FD9138F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184" y="5192059"/>
            <a:ext cx="7289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it-IT">
                <a:solidFill>
                  <a:srgbClr val="000000"/>
                </a:solidFill>
              </a:rPr>
              <a:t>Where G_Var is the variance of the neighborhood, </a:t>
            </a:r>
          </a:p>
          <a:p>
            <a:pPr eaLnBrk="1" hangingPunct="1"/>
            <a:r>
              <a:rPr lang="en-US" altLang="it-IT">
                <a:solidFill>
                  <a:srgbClr val="000000"/>
                </a:solidFill>
              </a:rPr>
              <a:t>G8, G7 are the maximum and sub-maximum gray values, </a:t>
            </a:r>
          </a:p>
          <a:p>
            <a:pPr eaLnBrk="1" hangingPunct="1"/>
            <a:r>
              <a:rPr lang="en-US" altLang="it-IT">
                <a:solidFill>
                  <a:srgbClr val="000000"/>
                </a:solidFill>
              </a:rPr>
              <a:t>G1, G2 are the minimum and sub-minimum gray values.</a:t>
            </a:r>
            <a:endParaRPr lang="en-US" altLang="it-IT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 eaLnBrk="1" hangingPunct="1"/>
            <a:endParaRPr lang="it-IT" altLang="it-IT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9591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7E79D-FC49-FCE3-9EE1-C1EAD18A9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09D6D4BE-0495-94C2-F07C-5D89E44F2141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009DEFC-E991-E1A5-76CC-287F5866AF6C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E232C59D-2458-D8BC-D512-7B3902CEC8DB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3FFF0728-7A6B-8ABA-2ACE-5FEBE88CE679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1FFEDAF7-B791-F5D0-8E73-30DA5F5280A4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AE563E7A-EADF-8E66-91A5-38EE4296323B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5F595E7-540B-5DFF-6815-2CC2DB2E3692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9A20A01A-93C6-0CF8-D37C-BCB65BD3773B}"/>
              </a:ext>
            </a:extLst>
          </p:cNvPr>
          <p:cNvGrpSpPr/>
          <p:nvPr/>
        </p:nvGrpSpPr>
        <p:grpSpPr>
          <a:xfrm rot="4943618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EC3C4DB5-2BC8-BF51-073E-17A3DA17C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78169ED1-7EB0-A038-5EF8-A359D57EA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9F372EF0-8CA0-D788-EB71-4A1074C68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1D23986C-59A2-96A0-F90B-07EF474FE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13D60B2D-3DC8-FF31-5DF6-6631F42B4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40382228-50FB-3A9E-D282-92B52D677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0D84299C-14A4-35BA-FD09-0105362EE4EB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1">
            <a:extLst>
              <a:ext uri="{FF2B5EF4-FFF2-40B4-BE49-F238E27FC236}">
                <a16:creationId xmlns:a16="http://schemas.microsoft.com/office/drawing/2014/main" id="{C7ED3D30-1F1C-F537-1264-435D3830D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4013" y="862304"/>
            <a:ext cx="6678613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it-IT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Localization:</a:t>
            </a:r>
            <a:r>
              <a:rPr lang="en-US" altLang="it-IT" sz="3600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endParaRPr lang="en-US" altLang="it-IT" sz="2300" dirty="0">
              <a:solidFill>
                <a:srgbClr val="002060"/>
              </a:solidFill>
              <a:latin typeface="Book Antiqua" panose="02040602050305030304" pitchFamily="18" charset="0"/>
            </a:endParaRPr>
          </a:p>
          <a:p>
            <a:pPr eaLnBrk="1" hangingPunct="1"/>
            <a:r>
              <a:rPr lang="en-US" altLang="it-IT" sz="2300" dirty="0">
                <a:solidFill>
                  <a:srgbClr val="002060"/>
                </a:solidFill>
                <a:latin typeface="Book Antiqua" panose="02040602050305030304" pitchFamily="18" charset="0"/>
              </a:rPr>
              <a:t>Local Compensation</a:t>
            </a:r>
          </a:p>
        </p:txBody>
      </p:sp>
      <p:pic>
        <p:nvPicPr>
          <p:cNvPr id="16" name="Immagine 2" descr="Immagine che contiene testo, diagramma, linea, Parallelo&#10;&#10;Il contenuto generato dall&amp;#39;IA potrebbe non essere corretto.">
            <a:extLst>
              <a:ext uri="{FF2B5EF4-FFF2-40B4-BE49-F238E27FC236}">
                <a16:creationId xmlns:a16="http://schemas.microsoft.com/office/drawing/2014/main" id="{29475767-C766-5FA3-6210-F9ECB9C3F7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" t="-284" r="-1129" b="85545"/>
          <a:stretch>
            <a:fillRect/>
          </a:stretch>
        </p:blipFill>
        <p:spPr bwMode="auto">
          <a:xfrm>
            <a:off x="3106717" y="1757864"/>
            <a:ext cx="7100887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magine 4" descr="Immagine che contiene testo, diagramma, linea, Parallelo&#10;&#10;Il contenuto generato dall&amp;#39;IA potrebbe non essere corretto.">
            <a:extLst>
              <a:ext uri="{FF2B5EF4-FFF2-40B4-BE49-F238E27FC236}">
                <a16:creationId xmlns:a16="http://schemas.microsoft.com/office/drawing/2014/main" id="{428EE167-DC71-F637-D4AF-71A2E3127B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31" r="-493" b="57306"/>
          <a:stretch>
            <a:fillRect/>
          </a:stretch>
        </p:blipFill>
        <p:spPr bwMode="auto">
          <a:xfrm>
            <a:off x="4195274" y="4058163"/>
            <a:ext cx="7583488" cy="253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18089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9195-ACCD-C9CC-7FC0-CCC178E51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E250E44A-30A8-EB74-682E-9580F9DC59AF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C4588CB-CF73-00C2-D9FC-4CC07B74FF90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E7FB1262-06FD-6F5C-1F5B-0F4273CFFFBB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92E70B4F-ECA9-E292-F2D2-B292DAC4ECB7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906288D7-1FA9-2735-B1E5-3D50CC373A7E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914105C3-9C02-B89D-CDC2-676645973952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2A01CED-664C-CD7D-C8C4-E4A42D9AA2B6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22A45973-9DF3-D12D-CC6B-BBEDC8A64849}"/>
              </a:ext>
            </a:extLst>
          </p:cNvPr>
          <p:cNvGrpSpPr/>
          <p:nvPr/>
        </p:nvGrpSpPr>
        <p:grpSpPr>
          <a:xfrm rot="4943618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4643BB4B-059B-2370-17D0-380649784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23B5D50E-2445-6062-4C4E-5923423C6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2A63D55D-EF63-4320-5924-04F19DF94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3A101A94-2B37-AF41-7A62-339843493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CB91A13D-91DB-0A6F-883D-0F318561C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8D578C02-799F-8564-914D-80D414F7C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6BC3AD52-7A16-30C4-6349-8856F17BDBB2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1">
            <a:extLst>
              <a:ext uri="{FF2B5EF4-FFF2-40B4-BE49-F238E27FC236}">
                <a16:creationId xmlns:a16="http://schemas.microsoft.com/office/drawing/2014/main" id="{664F66C5-E8FC-E14B-9BE2-1ADA74F02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4013" y="862304"/>
            <a:ext cx="6678613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it-IT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Localization:</a:t>
            </a:r>
            <a:r>
              <a:rPr lang="en-US" altLang="it-IT" sz="3600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endParaRPr lang="en-US" altLang="it-IT" sz="2300" dirty="0">
              <a:solidFill>
                <a:srgbClr val="002060"/>
              </a:solidFill>
              <a:latin typeface="Book Antiqua" panose="02040602050305030304" pitchFamily="18" charset="0"/>
            </a:endParaRPr>
          </a:p>
          <a:p>
            <a:pPr eaLnBrk="1" hangingPunct="1"/>
            <a:r>
              <a:rPr lang="en-US" altLang="it-IT" sz="2300" dirty="0">
                <a:solidFill>
                  <a:srgbClr val="002060"/>
                </a:solidFill>
                <a:latin typeface="Book Antiqua" panose="02040602050305030304" pitchFamily="18" charset="0"/>
              </a:rPr>
              <a:t>Local Compensation</a:t>
            </a:r>
          </a:p>
        </p:txBody>
      </p:sp>
      <p:pic>
        <p:nvPicPr>
          <p:cNvPr id="2" name="Immagine 5" descr="Immagine che contiene testo, diagramma, linea, Parallelo&#10;&#10;Il contenuto generato dall&amp;#39;IA potrebbe non essere corretto.">
            <a:extLst>
              <a:ext uri="{FF2B5EF4-FFF2-40B4-BE49-F238E27FC236}">
                <a16:creationId xmlns:a16="http://schemas.microsoft.com/office/drawing/2014/main" id="{C4B79D0A-9679-4527-55CF-B33703BFB4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61" r="504" b="14308"/>
          <a:stretch>
            <a:fillRect/>
          </a:stretch>
        </p:blipFill>
        <p:spPr bwMode="auto">
          <a:xfrm>
            <a:off x="3112706" y="1807268"/>
            <a:ext cx="7245350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magine 6" descr="Immagine che contiene testo, diagramma, linea, Parallelo&#10;&#10;Il contenuto generato dall&amp;#39;IA potrebbe non essere corretto.">
            <a:extLst>
              <a:ext uri="{FF2B5EF4-FFF2-40B4-BE49-F238E27FC236}">
                <a16:creationId xmlns:a16="http://schemas.microsoft.com/office/drawing/2014/main" id="{651F89C2-91CA-E9A9-B697-E79E10B5AA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10" r="587" b="-166"/>
          <a:stretch>
            <a:fillRect/>
          </a:stretch>
        </p:blipFill>
        <p:spPr bwMode="auto">
          <a:xfrm>
            <a:off x="4722270" y="4002310"/>
            <a:ext cx="7121525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39297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CE10C-C44B-8B84-33A8-EBE445B56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94BA1CBE-74A4-1A72-AA15-852EC94D810F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309960F9-ED8E-BDF9-31F4-DB1C953A4407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FC02A8B2-2B02-F907-4912-5CEFB52B6FF2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B7F13C56-E127-A025-9B99-FD0600EF0369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A9D9AD02-DD0A-75D3-6076-E04D068E34C9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97EFD511-4B33-22B5-58EA-60E6F5C36B0D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9442336-9EED-0D36-A3E5-B4A1D4E0A1B6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A9D6487D-0D09-C5AB-D5AB-C945BB1D540B}"/>
              </a:ext>
            </a:extLst>
          </p:cNvPr>
          <p:cNvGrpSpPr/>
          <p:nvPr/>
        </p:nvGrpSpPr>
        <p:grpSpPr>
          <a:xfrm rot="4943618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C1A04E77-F2AD-A7F6-33D1-FD110A86E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1645D914-E71D-B138-FAA6-DE476D466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CE3B8E36-B965-7DFE-1F53-C2807031B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824AC214-A6B8-A560-8090-D6DF0A7D1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AC4BBB25-57EC-0067-A98F-2BC4C0092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6D05ACCC-E22B-D79C-F9B5-8278ECB4C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BFE1FBB3-F567-F855-39BB-CFE445A4E382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1">
            <a:extLst>
              <a:ext uri="{FF2B5EF4-FFF2-40B4-BE49-F238E27FC236}">
                <a16:creationId xmlns:a16="http://schemas.microsoft.com/office/drawing/2014/main" id="{E7A063B1-7B8A-7369-5292-7E9B7E62E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4013" y="862304"/>
            <a:ext cx="6678613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it-IT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Localization:</a:t>
            </a:r>
            <a:r>
              <a:rPr lang="en-US" altLang="it-IT" sz="3600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endParaRPr lang="en-US" altLang="it-IT" sz="2300" dirty="0">
              <a:solidFill>
                <a:srgbClr val="002060"/>
              </a:solidFill>
              <a:latin typeface="Book Antiqua" panose="02040602050305030304" pitchFamily="18" charset="0"/>
            </a:endParaRPr>
          </a:p>
          <a:p>
            <a:pPr eaLnBrk="1" hangingPunct="1"/>
            <a:r>
              <a:rPr lang="en-US" altLang="it-IT" sz="2300" dirty="0">
                <a:solidFill>
                  <a:srgbClr val="002060"/>
                </a:solidFill>
                <a:latin typeface="Book Antiqua" panose="02040602050305030304" pitchFamily="18" charset="0"/>
              </a:rPr>
              <a:t>Mathematically</a:t>
            </a:r>
          </a:p>
        </p:txBody>
      </p:sp>
      <p:pic>
        <p:nvPicPr>
          <p:cNvPr id="6" name="Immagine 6" descr="Immagine che contiene Carattere, testo, linea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0BA35FCC-9801-C303-5944-BD78D9AFF3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831" y="2335922"/>
            <a:ext cx="5665788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asellaDiTesto 2">
            <a:extLst>
              <a:ext uri="{FF2B5EF4-FFF2-40B4-BE49-F238E27FC236}">
                <a16:creationId xmlns:a16="http://schemas.microsoft.com/office/drawing/2014/main" id="{8AB2DBE4-B3A9-9B1E-2798-ABBD27802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0656" y="3782135"/>
            <a:ext cx="63976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it-IT">
                <a:solidFill>
                  <a:srgbClr val="000000"/>
                </a:solidFill>
              </a:rPr>
              <a:t>To estimate the star center from the image, we use a </a:t>
            </a:r>
            <a:r>
              <a:rPr lang="en-US" altLang="it-IT" b="1">
                <a:solidFill>
                  <a:srgbClr val="000000"/>
                </a:solidFill>
              </a:rPr>
              <a:t>weighted centroid approach</a:t>
            </a:r>
            <a:r>
              <a:rPr lang="en-US" altLang="it-IT">
                <a:solidFill>
                  <a:srgbClr val="000000"/>
                </a:solidFill>
              </a:rPr>
              <a:t> with a threshold.</a:t>
            </a:r>
            <a:endParaRPr lang="en-US" altLang="it-IT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 eaLnBrk="1" hangingPunct="1"/>
            <a:endParaRPr lang="it-IT" altLang="it-IT">
              <a:solidFill>
                <a:srgbClr val="000000"/>
              </a:solidFill>
            </a:endParaRPr>
          </a:p>
        </p:txBody>
      </p:sp>
      <p:sp>
        <p:nvSpPr>
          <p:cNvPr id="10" name="CasellaDiTesto 4">
            <a:extLst>
              <a:ext uri="{FF2B5EF4-FFF2-40B4-BE49-F238E27FC236}">
                <a16:creationId xmlns:a16="http://schemas.microsoft.com/office/drawing/2014/main" id="{83A5F99E-1BAF-C02B-88D5-54B106016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0656" y="4717172"/>
            <a:ext cx="67421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it-IT">
                <a:solidFill>
                  <a:srgbClr val="000000"/>
                </a:solidFill>
                <a:cs typeface="Calibri" panose="020F0502020204030204" pitchFamily="34" charset="0"/>
              </a:rPr>
              <a:t>weights = patch – T</a:t>
            </a:r>
            <a:endParaRPr lang="it-IT" altLang="it-IT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1" hangingPunct="1"/>
            <a:endParaRPr lang="en-US" altLang="it-IT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1" hangingPunct="1"/>
            <a:r>
              <a:rPr lang="en-US" altLang="it-IT">
                <a:solidFill>
                  <a:srgbClr val="000000"/>
                </a:solidFill>
              </a:rPr>
              <a:t>xc = np.sum((xx + x1) * weights) / np.sum(weights)</a:t>
            </a:r>
            <a:endParaRPr lang="en-US" altLang="it-IT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1" hangingPunct="1"/>
            <a:r>
              <a:rPr lang="en-US" altLang="it-IT">
                <a:solidFill>
                  <a:srgbClr val="000000"/>
                </a:solidFill>
              </a:rPr>
              <a:t>yc = np.sum((yy + y1) * weights) / np.sum(weights)</a:t>
            </a:r>
          </a:p>
        </p:txBody>
      </p:sp>
    </p:spTree>
    <p:extLst>
      <p:ext uri="{BB962C8B-B14F-4D97-AF65-F5344CB8AC3E}">
        <p14:creationId xmlns:p14="http://schemas.microsoft.com/office/powerpoint/2010/main" val="7127493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4419-F1F7-EE3C-FAAB-8C7ADD44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6F22987C-2154-BEF0-2075-54FFCC643ADB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1F0656C-ABED-CD0D-55FC-500ED4CE6D1F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BC314F87-DBC4-135C-0C60-386F8299A88F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D591E925-80CF-3CAD-EC46-F8AFD09DF5B0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C3C2E1CF-29CE-A331-F645-090B8A754BCF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1646B1A4-679C-4295-6F9E-DA3D3FBCE4C7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15FCB5D-936F-9A22-F63E-1D473851B18D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6B3FC9F1-D829-5A82-4BFB-41C6379D3FD9}"/>
              </a:ext>
            </a:extLst>
          </p:cNvPr>
          <p:cNvGrpSpPr/>
          <p:nvPr/>
        </p:nvGrpSpPr>
        <p:grpSpPr>
          <a:xfrm rot="4943618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876A704D-1D85-D359-03E2-2FD495B0C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97850FE7-3AAB-76DE-7704-3AF9A56E0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9E06354A-15D0-C0BC-4438-7097049C7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19BFDDEA-2CB9-14DA-1DDF-971FFA273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5A66ACD1-0620-64A0-B56A-689EEE866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15365DAD-EBEE-77F8-2323-F9D4E3118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180304C2-A78A-1D4B-2A65-A96EB1A78611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1">
            <a:extLst>
              <a:ext uri="{FF2B5EF4-FFF2-40B4-BE49-F238E27FC236}">
                <a16:creationId xmlns:a16="http://schemas.microsoft.com/office/drawing/2014/main" id="{50EA63CE-31F3-F8B2-31CB-DB000594D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4013" y="862304"/>
            <a:ext cx="6678613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it-IT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Localization:</a:t>
            </a:r>
            <a:r>
              <a:rPr lang="en-US" altLang="it-IT" sz="3600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endParaRPr lang="en-US" altLang="it-IT" sz="2300" dirty="0">
              <a:solidFill>
                <a:srgbClr val="002060"/>
              </a:solidFill>
              <a:latin typeface="Book Antiqua" panose="02040602050305030304" pitchFamily="18" charset="0"/>
            </a:endParaRPr>
          </a:p>
          <a:p>
            <a:pPr eaLnBrk="1" hangingPunct="1"/>
            <a:r>
              <a:rPr lang="en-US" altLang="it-IT" sz="2300" dirty="0">
                <a:solidFill>
                  <a:srgbClr val="002060"/>
                </a:solidFill>
                <a:latin typeface="Book Antiqua" panose="02040602050305030304" pitchFamily="18" charset="0"/>
              </a:rPr>
              <a:t>Algorithm</a:t>
            </a:r>
          </a:p>
        </p:txBody>
      </p:sp>
      <p:sp>
        <p:nvSpPr>
          <p:cNvPr id="2" name="CasellaDiTesto 4">
            <a:extLst>
              <a:ext uri="{FF2B5EF4-FFF2-40B4-BE49-F238E27FC236}">
                <a16:creationId xmlns:a16="http://schemas.microsoft.com/office/drawing/2014/main" id="{70949A63-698D-334C-8032-D2FA06975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9360" y="2385511"/>
            <a:ext cx="7639050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patches → </a:t>
            </a:r>
            <a:r>
              <a:rPr lang="it-IT" altLang="it-IT">
                <a:solidFill>
                  <a:srgbClr val="203864"/>
                </a:solidFill>
                <a:latin typeface="Consolas" panose="020B0609020204030204" pitchFamily="49" charset="0"/>
              </a:rPr>
              <a:t>extract_star_patches</a:t>
            </a:r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(size=window)</a:t>
            </a:r>
            <a:endParaRPr lang="it-IT" altLang="it-IT">
              <a:solidFill>
                <a:srgbClr val="000000"/>
              </a:solidFill>
            </a:endParaRPr>
          </a:p>
          <a:p>
            <a:pPr eaLnBrk="1" hangingPunct="1"/>
            <a:endParaRPr lang="it-IT" altLang="it-IT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it-IT" altLang="it-IT">
                <a:solidFill>
                  <a:srgbClr val="203864"/>
                </a:solidFill>
                <a:latin typeface="Consolas" panose="020B0609020204030204" pitchFamily="49" charset="0"/>
              </a:rPr>
              <a:t>FOR</a:t>
            </a:r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 every patch</a:t>
            </a:r>
            <a:endParaRPr lang="it-IT" altLang="it-IT">
              <a:solidFill>
                <a:srgbClr val="000000"/>
              </a:solidFill>
            </a:endParaRPr>
          </a:p>
          <a:p>
            <a:pPr eaLnBrk="1" hangingPunct="1"/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    patch → </a:t>
            </a:r>
            <a:r>
              <a:rPr lang="it-IT" altLang="it-IT">
                <a:solidFill>
                  <a:srgbClr val="4472C4"/>
                </a:solidFill>
                <a:latin typeface="Consolas" panose="020B0609020204030204" pitchFamily="49" charset="0"/>
              </a:rPr>
              <a:t>energy_compensation</a:t>
            </a:r>
          </a:p>
          <a:p>
            <a:pPr eaLnBrk="1" hangingPunct="1"/>
            <a:r>
              <a:rPr lang="it-IT" altLang="it-IT">
                <a:solidFill>
                  <a:srgbClr val="4472C4"/>
                </a:solidFill>
                <a:latin typeface="Consolas" panose="020B0609020204030204" pitchFamily="49" charset="0"/>
              </a:rPr>
              <a:t>   </a:t>
            </a:r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 T → patch.min() + percent * (patch.max() - patch.min())</a:t>
            </a:r>
          </a:p>
          <a:p>
            <a:pPr eaLnBrk="1" hangingPunct="1"/>
            <a:r>
              <a:rPr lang="it-IT" altLang="it-IT">
                <a:solidFill>
                  <a:srgbClr val="4472C4"/>
                </a:solidFill>
                <a:latin typeface="Consolas" panose="020B0609020204030204" pitchFamily="49" charset="0"/>
              </a:rPr>
              <a:t>    </a:t>
            </a:r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c → </a:t>
            </a:r>
            <a:r>
              <a:rPr lang="it-IT" altLang="it-IT">
                <a:solidFill>
                  <a:srgbClr val="4472C4"/>
                </a:solidFill>
                <a:latin typeface="Consolas" panose="020B0609020204030204" pitchFamily="49" charset="0"/>
              </a:rPr>
              <a:t>threshold_centroid</a:t>
            </a:r>
          </a:p>
          <a:p>
            <a:pPr eaLnBrk="1" hangingPunct="1"/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    centroid.append(c)</a:t>
            </a:r>
          </a:p>
        </p:txBody>
      </p:sp>
      <p:cxnSp>
        <p:nvCxnSpPr>
          <p:cNvPr id="5" name="Connettore diritto 9">
            <a:extLst>
              <a:ext uri="{FF2B5EF4-FFF2-40B4-BE49-F238E27FC236}">
                <a16:creationId xmlns:a16="http://schemas.microsoft.com/office/drawing/2014/main" id="{09087A8A-A342-1D26-28C5-579FC6C1E82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310622" y="2397885"/>
            <a:ext cx="0" cy="1938663"/>
          </a:xfrm>
          <a:prstGeom prst="straightConnector1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A61A515-3387-4501-34B2-908E5552D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910" y="4935036"/>
            <a:ext cx="609600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it-IT" sz="2100" b="1">
                <a:solidFill>
                  <a:srgbClr val="000000"/>
                </a:solidFill>
                <a:cs typeface="Calibri" panose="020F0502020204030204" pitchFamily="34" charset="0"/>
              </a:rPr>
              <a:t>Hyperparameters:</a:t>
            </a:r>
          </a:p>
          <a:p>
            <a:pPr eaLnBrk="1" hangingPunct="1"/>
            <a:r>
              <a:rPr lang="en-US" altLang="it-IT">
                <a:solidFill>
                  <a:srgbClr val="000000"/>
                </a:solidFill>
              </a:rPr>
              <a:t>percent = 0.2</a:t>
            </a:r>
            <a:endParaRPr lang="en-US" altLang="it-IT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1" hangingPunct="1"/>
            <a:r>
              <a:rPr lang="en-US" altLang="it-IT">
                <a:solidFill>
                  <a:srgbClr val="000000"/>
                </a:solidFill>
              </a:rPr>
              <a:t>window = 5</a:t>
            </a:r>
            <a:endParaRPr lang="en-US" altLang="it-IT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3995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B4A79-FF1F-FEEB-FFED-A6FE16119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45CE3154-52D5-11F5-6972-7940CEF01122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393340C-FBDC-09D0-A3EA-650A00F40509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E889DF83-C101-1604-E753-10E7F813EF2A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66F5D729-8C4A-CE07-D811-A5612F5C8AC7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7F075C10-8D34-66EE-84D2-D980AEE0C086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CF2DF38D-C453-1237-3A1D-338B12CBAD87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BDD39A8-74AE-8302-DDEC-D04B0C9F5013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B4515E34-8BD2-F3FB-5DC6-AE03F4CA9C8B}"/>
              </a:ext>
            </a:extLst>
          </p:cNvPr>
          <p:cNvGrpSpPr/>
          <p:nvPr/>
        </p:nvGrpSpPr>
        <p:grpSpPr>
          <a:xfrm rot="4943618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B6CDD49C-B7CA-527B-560E-2F3DDC41A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084C1468-3E31-04F2-D3C5-73A86F865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7F743936-C13E-2020-997F-76EB42876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8ABB479F-9252-83D5-151E-2B3C89960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35460AC5-6A0D-97AB-E9E0-0C32D918C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E2B9EFF6-365E-9D7E-CD47-B43FC66C3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47729BC7-C284-60C7-6544-1B127D65E5F3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1">
            <a:extLst>
              <a:ext uri="{FF2B5EF4-FFF2-40B4-BE49-F238E27FC236}">
                <a16:creationId xmlns:a16="http://schemas.microsoft.com/office/drawing/2014/main" id="{4A909735-B139-325A-C3F9-F1BECE655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4013" y="862304"/>
            <a:ext cx="6678613" cy="100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it-IT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Localization:</a:t>
            </a:r>
            <a:r>
              <a:rPr lang="en-US" altLang="it-IT" sz="3600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endParaRPr lang="en-US" altLang="it-IT" sz="2300" dirty="0">
              <a:solidFill>
                <a:srgbClr val="002060"/>
              </a:solidFill>
              <a:latin typeface="Book Antiqua" panose="02040602050305030304" pitchFamily="18" charset="0"/>
            </a:endParaRPr>
          </a:p>
          <a:p>
            <a:r>
              <a:rPr lang="en-US" altLang="it-IT" sz="2300" dirty="0">
                <a:solidFill>
                  <a:srgbClr val="002060"/>
                </a:solidFill>
                <a:latin typeface="Book Antiqua" panose="02040602050305030304" pitchFamily="18" charset="0"/>
              </a:rPr>
              <a:t>Algorithm error - 3px</a:t>
            </a:r>
          </a:p>
        </p:txBody>
      </p:sp>
      <p:graphicFrame>
        <p:nvGraphicFramePr>
          <p:cNvPr id="6" name="Tabella 17">
            <a:extLst>
              <a:ext uri="{FF2B5EF4-FFF2-40B4-BE49-F238E27FC236}">
                <a16:creationId xmlns:a16="http://schemas.microsoft.com/office/drawing/2014/main" id="{37644700-083D-2B23-0770-376E2884A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387788"/>
              </p:ext>
            </p:extLst>
          </p:nvPr>
        </p:nvGraphicFramePr>
        <p:xfrm>
          <a:off x="3830370" y="2708330"/>
          <a:ext cx="7859712" cy="2926000"/>
        </p:xfrm>
        <a:graphic>
          <a:graphicData uri="http://schemas.openxmlformats.org/drawingml/2006/table">
            <a:tbl>
              <a:tblPr bandRow="1">
                <a:effectLst/>
                <a:tableStyleId>{5C22544A-7EE6-4342-B048-85BDC9FD1C3A}</a:tableStyleId>
              </a:tblPr>
              <a:tblGrid>
                <a:gridCol w="1122816">
                  <a:extLst>
                    <a:ext uri="{9D8B030D-6E8A-4147-A177-3AD203B41FA5}">
                      <a16:colId xmlns:a16="http://schemas.microsoft.com/office/drawing/2014/main" val="3035178747"/>
                    </a:ext>
                  </a:extLst>
                </a:gridCol>
                <a:gridCol w="1122816">
                  <a:extLst>
                    <a:ext uri="{9D8B030D-6E8A-4147-A177-3AD203B41FA5}">
                      <a16:colId xmlns:a16="http://schemas.microsoft.com/office/drawing/2014/main" val="1125064003"/>
                    </a:ext>
                  </a:extLst>
                </a:gridCol>
                <a:gridCol w="1122816">
                  <a:extLst>
                    <a:ext uri="{9D8B030D-6E8A-4147-A177-3AD203B41FA5}">
                      <a16:colId xmlns:a16="http://schemas.microsoft.com/office/drawing/2014/main" val="1902748721"/>
                    </a:ext>
                  </a:extLst>
                </a:gridCol>
                <a:gridCol w="1122816">
                  <a:extLst>
                    <a:ext uri="{9D8B030D-6E8A-4147-A177-3AD203B41FA5}">
                      <a16:colId xmlns:a16="http://schemas.microsoft.com/office/drawing/2014/main" val="2957362745"/>
                    </a:ext>
                  </a:extLst>
                </a:gridCol>
                <a:gridCol w="1122816">
                  <a:extLst>
                    <a:ext uri="{9D8B030D-6E8A-4147-A177-3AD203B41FA5}">
                      <a16:colId xmlns:a16="http://schemas.microsoft.com/office/drawing/2014/main" val="1274188122"/>
                    </a:ext>
                  </a:extLst>
                </a:gridCol>
                <a:gridCol w="1122816">
                  <a:extLst>
                    <a:ext uri="{9D8B030D-6E8A-4147-A177-3AD203B41FA5}">
                      <a16:colId xmlns:a16="http://schemas.microsoft.com/office/drawing/2014/main" val="2874721105"/>
                    </a:ext>
                  </a:extLst>
                </a:gridCol>
                <a:gridCol w="1122816">
                  <a:extLst>
                    <a:ext uri="{9D8B030D-6E8A-4147-A177-3AD203B41FA5}">
                      <a16:colId xmlns:a16="http://schemas.microsoft.com/office/drawing/2014/main" val="2184462054"/>
                    </a:ext>
                  </a:extLst>
                </a:gridCol>
              </a:tblGrid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Image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TP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FP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FN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Precision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Recall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Stars</a:t>
                      </a:r>
                    </a:p>
                  </a:txBody>
                  <a:tcPr marL="91452" marR="91452" marT="45715" marB="45715" anchor="ctr"/>
                </a:tc>
                <a:extLst>
                  <a:ext uri="{0D108BD9-81ED-4DB2-BD59-A6C34878D82A}">
                    <a16:rowId xmlns:a16="http://schemas.microsoft.com/office/drawing/2014/main" val="3737177993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0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110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188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83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0.3691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0.5699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298</a:t>
                      </a:r>
                    </a:p>
                  </a:txBody>
                  <a:tcPr marL="91452" marR="91452" marT="45715" marB="45715" anchor="ctr"/>
                </a:tc>
                <a:extLst>
                  <a:ext uri="{0D108BD9-81ED-4DB2-BD59-A6C34878D82A}">
                    <a16:rowId xmlns:a16="http://schemas.microsoft.com/office/drawing/2014/main" val="1095557226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1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164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133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29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0.5522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0.8497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297</a:t>
                      </a:r>
                    </a:p>
                  </a:txBody>
                  <a:tcPr marL="91452" marR="91452" marT="45715" marB="45715" anchor="ctr"/>
                </a:tc>
                <a:extLst>
                  <a:ext uri="{0D108BD9-81ED-4DB2-BD59-A6C34878D82A}">
                    <a16:rowId xmlns:a16="http://schemas.microsoft.com/office/drawing/2014/main" val="1072060659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2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9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13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 dirty="0"/>
                        <a:t>184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 dirty="0"/>
                        <a:t>0.4091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0.0466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22</a:t>
                      </a:r>
                    </a:p>
                  </a:txBody>
                  <a:tcPr marL="91452" marR="91452" marT="45715" marB="45715" anchor="ctr"/>
                </a:tc>
                <a:extLst>
                  <a:ext uri="{0D108BD9-81ED-4DB2-BD59-A6C34878D82A}">
                    <a16:rowId xmlns:a16="http://schemas.microsoft.com/office/drawing/2014/main" val="1208755739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3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7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18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186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0.2800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0.0363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25</a:t>
                      </a:r>
                    </a:p>
                  </a:txBody>
                  <a:tcPr marL="91452" marR="91452" marT="45715" marB="45715" anchor="ctr"/>
                </a:tc>
                <a:extLst>
                  <a:ext uri="{0D108BD9-81ED-4DB2-BD59-A6C34878D82A}">
                    <a16:rowId xmlns:a16="http://schemas.microsoft.com/office/drawing/2014/main" val="1099058638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4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9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10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184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0.4737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0.0466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19</a:t>
                      </a:r>
                    </a:p>
                  </a:txBody>
                  <a:tcPr marL="91452" marR="91452" marT="45715" marB="45715" anchor="ctr"/>
                </a:tc>
                <a:extLst>
                  <a:ext uri="{0D108BD9-81ED-4DB2-BD59-A6C34878D82A}">
                    <a16:rowId xmlns:a16="http://schemas.microsoft.com/office/drawing/2014/main" val="1168159759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5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4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17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189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0.1905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0.0207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21</a:t>
                      </a:r>
                    </a:p>
                  </a:txBody>
                  <a:tcPr marL="91452" marR="91452" marT="45715" marB="45715" anchor="ctr"/>
                </a:tc>
                <a:extLst>
                  <a:ext uri="{0D108BD9-81ED-4DB2-BD59-A6C34878D82A}">
                    <a16:rowId xmlns:a16="http://schemas.microsoft.com/office/drawing/2014/main" val="2988539992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6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3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192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0.2500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0.0052</a:t>
                      </a:r>
                    </a:p>
                  </a:txBody>
                  <a:tcPr marL="91452" marR="9145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 dirty="0"/>
                        <a:t>4</a:t>
                      </a:r>
                    </a:p>
                  </a:txBody>
                  <a:tcPr marL="91452" marR="91452" marT="45715" marB="45715" anchor="ctr"/>
                </a:tc>
                <a:extLst>
                  <a:ext uri="{0D108BD9-81ED-4DB2-BD59-A6C34878D82A}">
                    <a16:rowId xmlns:a16="http://schemas.microsoft.com/office/drawing/2014/main" val="1875997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032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C75D4-E1DA-A3E8-A68C-8338BBFEB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8C2667B2-94B9-342A-7396-F1F73723D249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CD47CD2-A269-047E-6E4E-EC0F1B501FD3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23F7DE90-C3E6-6234-A6C8-7ED4A7687B7E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8284FFA9-1074-95C2-2F05-B00BCBE42F86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DC8118F3-3D50-3372-C143-66DF14C043D6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4C62C8AF-7E46-25EF-E386-A6A364F4975A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24B2AEB4-B05C-25E7-69B9-38051EFA8D9F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3975F8B1-33D0-A824-A7FF-03C007E1BA8D}"/>
              </a:ext>
            </a:extLst>
          </p:cNvPr>
          <p:cNvGrpSpPr/>
          <p:nvPr/>
        </p:nvGrpSpPr>
        <p:grpSpPr>
          <a:xfrm rot="4943618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03A5BAA6-0AA9-92C1-FC20-DEEF35721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024FB467-2447-13A9-FEB0-051A7C3C8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A626E739-98CB-A5B8-1E0D-A00CD99B6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92D4504F-1587-94D3-AD43-B6A36C54F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5210DE43-1613-6CA8-DF82-FE5D077B8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2C1FC411-C4D2-81C6-D83E-BD5F22D56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045072BC-D863-5837-1E94-BC2585EE500B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1">
            <a:extLst>
              <a:ext uri="{FF2B5EF4-FFF2-40B4-BE49-F238E27FC236}">
                <a16:creationId xmlns:a16="http://schemas.microsoft.com/office/drawing/2014/main" id="{DC171904-BC45-24FC-F841-DC42BFA5F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4013" y="862304"/>
            <a:ext cx="6678613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it-IT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Localization:</a:t>
            </a:r>
            <a:r>
              <a:rPr lang="en-US" altLang="it-IT" sz="3600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</a:p>
          <a:p>
            <a:r>
              <a:rPr lang="en-US" altLang="it-IT" sz="2300" dirty="0">
                <a:solidFill>
                  <a:srgbClr val="002060"/>
                </a:solidFill>
                <a:latin typeface="Book Antiqua" panose="02040602050305030304" pitchFamily="18" charset="0"/>
              </a:rPr>
              <a:t>Algorithm Duplicated Coordinates</a:t>
            </a:r>
          </a:p>
          <a:p>
            <a:pPr eaLnBrk="1" hangingPunct="1"/>
            <a:endParaRPr lang="en-US" altLang="it-IT" sz="2300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CasellaDiTesto 4">
            <a:extLst>
              <a:ext uri="{FF2B5EF4-FFF2-40B4-BE49-F238E27FC236}">
                <a16:creationId xmlns:a16="http://schemas.microsoft.com/office/drawing/2014/main" id="{C10A892D-AA8B-BD43-8FA1-6A80C0E6D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5913" y="1855788"/>
            <a:ext cx="8058150" cy="480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patches → </a:t>
            </a:r>
            <a:r>
              <a:rPr lang="it-IT" altLang="it-IT">
                <a:solidFill>
                  <a:srgbClr val="203864"/>
                </a:solidFill>
                <a:latin typeface="Consolas" panose="020B0609020204030204" pitchFamily="49" charset="0"/>
              </a:rPr>
              <a:t>extract_star_patches</a:t>
            </a:r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(size=window)</a:t>
            </a:r>
            <a:endParaRPr lang="it-IT" altLang="it-IT">
              <a:solidFill>
                <a:srgbClr val="000000"/>
              </a:solidFill>
            </a:endParaRPr>
          </a:p>
          <a:p>
            <a:pPr eaLnBrk="1" hangingPunct="1"/>
            <a:endParaRPr lang="it-IT" altLang="it-IT">
              <a:solidFill>
                <a:srgbClr val="203864"/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it-IT" altLang="it-IT">
                <a:solidFill>
                  <a:srgbClr val="203864"/>
                </a:solidFill>
                <a:latin typeface="Consolas" panose="020B0609020204030204" pitchFamily="49" charset="0"/>
              </a:rPr>
              <a:t>FOR</a:t>
            </a:r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 patch in patches</a:t>
            </a:r>
            <a:endParaRPr lang="it-IT" altLang="it-IT">
              <a:solidFill>
                <a:srgbClr val="000000"/>
              </a:solidFill>
            </a:endParaRPr>
          </a:p>
          <a:p>
            <a:pPr eaLnBrk="1" hangingPunct="1"/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    patch → </a:t>
            </a:r>
            <a:r>
              <a:rPr lang="it-IT" altLang="it-IT">
                <a:solidFill>
                  <a:srgbClr val="4472C4"/>
                </a:solidFill>
                <a:latin typeface="Consolas" panose="020B0609020204030204" pitchFamily="49" charset="0"/>
              </a:rPr>
              <a:t>energy_compensation</a:t>
            </a:r>
          </a:p>
          <a:p>
            <a:pPr eaLnBrk="1" hangingPunct="1"/>
            <a:r>
              <a:rPr lang="it-IT" altLang="it-IT">
                <a:solidFill>
                  <a:srgbClr val="4472C4"/>
                </a:solidFill>
                <a:latin typeface="Consolas" panose="020B0609020204030204" pitchFamily="49" charset="0"/>
              </a:rPr>
              <a:t>    </a:t>
            </a:r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patch → </a:t>
            </a:r>
            <a:r>
              <a:rPr lang="it-IT" altLang="it-IT">
                <a:solidFill>
                  <a:srgbClr val="4472C4"/>
                </a:solidFill>
                <a:latin typeface="Consolas" panose="020B0609020204030204" pitchFamily="49" charset="0"/>
              </a:rPr>
              <a:t>extract_patch</a:t>
            </a:r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(size=window_s)</a:t>
            </a:r>
            <a:endParaRPr lang="it-IT" altLang="it-IT">
              <a:solidFill>
                <a:srgbClr val="4472C4"/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it-IT" altLang="it-IT">
                <a:solidFill>
                  <a:srgbClr val="4472C4"/>
                </a:solidFill>
                <a:latin typeface="Consolas" panose="020B0609020204030204" pitchFamily="49" charset="0"/>
              </a:rPr>
              <a:t>   </a:t>
            </a:r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 T → patch.min() + percent * (patch.max() - patch.min())</a:t>
            </a:r>
          </a:p>
          <a:p>
            <a:pPr eaLnBrk="1" hangingPunct="1"/>
            <a:r>
              <a:rPr lang="it-IT" altLang="it-IT">
                <a:solidFill>
                  <a:srgbClr val="4472C4"/>
                </a:solidFill>
                <a:latin typeface="Consolas" panose="020B0609020204030204" pitchFamily="49" charset="0"/>
              </a:rPr>
              <a:t>    </a:t>
            </a:r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c → </a:t>
            </a:r>
            <a:r>
              <a:rPr lang="it-IT" altLang="it-IT">
                <a:solidFill>
                  <a:srgbClr val="4472C4"/>
                </a:solidFill>
                <a:latin typeface="Consolas" panose="020B0609020204030204" pitchFamily="49" charset="0"/>
              </a:rPr>
              <a:t>threshold_centroid</a:t>
            </a:r>
          </a:p>
          <a:p>
            <a:pPr eaLnBrk="1" hangingPunct="1"/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    centroid.append(c)</a:t>
            </a:r>
          </a:p>
          <a:p>
            <a:pPr eaLnBrk="1" hangingPunct="1"/>
            <a:endParaRPr lang="it-IT" altLang="it-IT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FOR i in centroid </a:t>
            </a:r>
            <a:endParaRPr lang="it-IT" altLang="it-IT">
              <a:solidFill>
                <a:srgbClr val="000000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eaLnBrk="1" hangingPunct="1"/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    IF i in used CONTINUE </a:t>
            </a:r>
            <a:endParaRPr lang="it-IT" altLang="it-IT">
              <a:solidFill>
                <a:srgbClr val="000000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eaLnBrk="1" hangingPunct="1"/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    cluster = [i] </a:t>
            </a:r>
            <a:endParaRPr lang="it-IT" altLang="it-IT">
              <a:solidFill>
                <a:srgbClr val="000000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eaLnBrk="1" hangingPunct="1"/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    FOR j in centroid </a:t>
            </a:r>
            <a:endParaRPr lang="it-IT" altLang="it-IT">
              <a:solidFill>
                <a:srgbClr val="000000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eaLnBrk="1" hangingPunct="1"/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        IF j not in used </a:t>
            </a:r>
            <a:r>
              <a:rPr lang="it-IT" altLang="it-IT">
                <a:solidFill>
                  <a:srgbClr val="0D0D0D"/>
                </a:solidFill>
                <a:latin typeface="Consolas" panose="020B0609020204030204" pitchFamily="49" charset="0"/>
              </a:rPr>
              <a:t>AND </a:t>
            </a:r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distance(i, j) &lt; 1.5 </a:t>
            </a:r>
            <a:endParaRPr lang="it-IT" altLang="it-IT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1" hangingPunct="1"/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             cluster.append(j)  </a:t>
            </a:r>
            <a:endParaRPr lang="it-IT" altLang="it-IT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1" hangingPunct="1"/>
            <a:r>
              <a:rPr lang="it-IT" altLang="it-IT">
                <a:solidFill>
                  <a:srgbClr val="000000"/>
                </a:solidFill>
                <a:latin typeface="Consolas" panose="020B0609020204030204" pitchFamily="49" charset="0"/>
              </a:rPr>
              <a:t>        final.append(mean(cluster))</a:t>
            </a:r>
            <a:endParaRPr lang="it-IT" altLang="it-IT">
              <a:solidFill>
                <a:srgbClr val="000000"/>
              </a:solidFill>
            </a:endParaRPr>
          </a:p>
          <a:p>
            <a:pPr eaLnBrk="1" hangingPunct="1"/>
            <a:endParaRPr lang="it-IT" altLang="it-IT">
              <a:solidFill>
                <a:srgbClr val="000000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cxnSp>
        <p:nvCxnSpPr>
          <p:cNvPr id="5" name="Connettore diritto 9">
            <a:extLst>
              <a:ext uri="{FF2B5EF4-FFF2-40B4-BE49-F238E27FC236}">
                <a16:creationId xmlns:a16="http://schemas.microsoft.com/office/drawing/2014/main" id="{6DD45F61-B13B-A7CC-7DE3-8AE25F8B359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114364" y="2008188"/>
            <a:ext cx="17463" cy="4559300"/>
          </a:xfrm>
          <a:prstGeom prst="straightConnector1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CasellaDiTesto 10">
            <a:extLst>
              <a:ext uri="{FF2B5EF4-FFF2-40B4-BE49-F238E27FC236}">
                <a16:creationId xmlns:a16="http://schemas.microsoft.com/office/drawing/2014/main" id="{2E17D454-75B1-D83E-A3F7-F3B1074C9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970" y="5339324"/>
            <a:ext cx="2630487" cy="124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it-IT" sz="2100" b="1" dirty="0">
                <a:solidFill>
                  <a:srgbClr val="000000"/>
                </a:solidFill>
                <a:cs typeface="Calibri" panose="020F0502020204030204" pitchFamily="34" charset="0"/>
              </a:rPr>
              <a:t>Hyperparameters:</a:t>
            </a:r>
          </a:p>
          <a:p>
            <a:pPr eaLnBrk="1" hangingPunct="1"/>
            <a:r>
              <a:rPr lang="en-US" altLang="it-IT" dirty="0">
                <a:solidFill>
                  <a:srgbClr val="000000"/>
                </a:solidFill>
              </a:rPr>
              <a:t>window = 5</a:t>
            </a:r>
            <a:endParaRPr lang="en-US" altLang="it-IT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1" hangingPunct="1"/>
            <a:r>
              <a:rPr lang="en-US" altLang="it-IT" dirty="0">
                <a:solidFill>
                  <a:srgbClr val="000000"/>
                </a:solidFill>
                <a:cs typeface="Calibri" panose="020F0502020204030204" pitchFamily="34" charset="0"/>
              </a:rPr>
              <a:t>window small = 3</a:t>
            </a:r>
            <a:endParaRPr lang="en-US" altLang="it-IT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it-IT" dirty="0">
                <a:solidFill>
                  <a:srgbClr val="000000"/>
                </a:solidFill>
                <a:cs typeface="Calibri" panose="020F0502020204030204" pitchFamily="34" charset="0"/>
              </a:rPr>
              <a:t>percent small = 0.8</a:t>
            </a:r>
          </a:p>
        </p:txBody>
      </p:sp>
    </p:spTree>
    <p:extLst>
      <p:ext uri="{BB962C8B-B14F-4D97-AF65-F5344CB8AC3E}">
        <p14:creationId xmlns:p14="http://schemas.microsoft.com/office/powerpoint/2010/main" val="24715852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E555E-897B-2480-26C6-BE1DA9E98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0AA437C9-E2BA-95ED-3810-455A5DEEC7B6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603DCD4-D553-D7DB-A173-D95B23720400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E5D89906-F80F-A070-24AE-9D24B05B3D78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0BEFB35C-BE5F-E97A-77F7-CE6A7980D5B9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A8E2D416-5C95-CCA0-B492-B61D1BEE8CA4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FE4E3F99-FB93-56CF-8A4B-FC1CBA6D1C6C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C07E0AE1-C16C-4B9B-2455-8DBD6A7F4DB3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A9956B77-0E5B-638D-EA3F-1AA208C4DC95}"/>
              </a:ext>
            </a:extLst>
          </p:cNvPr>
          <p:cNvGrpSpPr/>
          <p:nvPr/>
        </p:nvGrpSpPr>
        <p:grpSpPr>
          <a:xfrm rot="4943618"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83C3ACE6-1E35-3962-B360-2F634B98E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21CFA11B-A229-E4EF-A197-73DE7521F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9F0EEF46-390C-E26E-A7B5-0939045DE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86728F74-BE26-9912-EED3-496E8E117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211CE31D-54D5-5E71-D0F9-32ED4EE3A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A1D36EC5-1456-D875-0CE8-D5B99B5C8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DA960C1C-3B20-4A72-8AE2-978C37AB4EBE}"/>
              </a:ext>
            </a:extLst>
          </p:cNvPr>
          <p:cNvCxnSpPr>
            <a:cxnSpLocks/>
          </p:cNvCxnSpPr>
          <p:nvPr/>
        </p:nvCxnSpPr>
        <p:spPr>
          <a:xfrm flipV="1">
            <a:off x="2281646" y="1416856"/>
            <a:ext cx="3097178" cy="3956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1">
            <a:extLst>
              <a:ext uri="{FF2B5EF4-FFF2-40B4-BE49-F238E27FC236}">
                <a16:creationId xmlns:a16="http://schemas.microsoft.com/office/drawing/2014/main" id="{1C050B00-192B-5C54-782A-67E70E094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4013" y="862304"/>
            <a:ext cx="6678613" cy="100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it-IT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Localization:</a:t>
            </a:r>
            <a:r>
              <a:rPr lang="en-US" altLang="it-IT" sz="3600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</a:p>
          <a:p>
            <a:r>
              <a:rPr lang="en-US" altLang="it-IT" sz="2300" dirty="0">
                <a:solidFill>
                  <a:srgbClr val="002060"/>
                </a:solidFill>
                <a:latin typeface="Book Antiqua" panose="02040602050305030304" pitchFamily="18" charset="0"/>
              </a:rPr>
              <a:t>Algorithm error - 3px</a:t>
            </a:r>
          </a:p>
        </p:txBody>
      </p:sp>
      <p:graphicFrame>
        <p:nvGraphicFramePr>
          <p:cNvPr id="10" name="Tabella 4">
            <a:extLst>
              <a:ext uri="{FF2B5EF4-FFF2-40B4-BE49-F238E27FC236}">
                <a16:creationId xmlns:a16="http://schemas.microsoft.com/office/drawing/2014/main" id="{9EBA6462-FC4C-5482-45EB-A1A33C867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371897"/>
              </p:ext>
            </p:extLst>
          </p:nvPr>
        </p:nvGraphicFramePr>
        <p:xfrm>
          <a:off x="3179665" y="2610860"/>
          <a:ext cx="8512177" cy="2926000"/>
        </p:xfrm>
        <a:graphic>
          <a:graphicData uri="http://schemas.openxmlformats.org/drawingml/2006/table">
            <a:tbl>
              <a:tblPr bandRow="1">
                <a:effectLst/>
                <a:tableStyleId>{5C22544A-7EE6-4342-B048-85BDC9FD1C3A}</a:tableStyleId>
              </a:tblPr>
              <a:tblGrid>
                <a:gridCol w="1064021">
                  <a:extLst>
                    <a:ext uri="{9D8B030D-6E8A-4147-A177-3AD203B41FA5}">
                      <a16:colId xmlns:a16="http://schemas.microsoft.com/office/drawing/2014/main" val="1515614365"/>
                    </a:ext>
                  </a:extLst>
                </a:gridCol>
                <a:gridCol w="1064021">
                  <a:extLst>
                    <a:ext uri="{9D8B030D-6E8A-4147-A177-3AD203B41FA5}">
                      <a16:colId xmlns:a16="http://schemas.microsoft.com/office/drawing/2014/main" val="136322602"/>
                    </a:ext>
                  </a:extLst>
                </a:gridCol>
                <a:gridCol w="1064021">
                  <a:extLst>
                    <a:ext uri="{9D8B030D-6E8A-4147-A177-3AD203B41FA5}">
                      <a16:colId xmlns:a16="http://schemas.microsoft.com/office/drawing/2014/main" val="1100752399"/>
                    </a:ext>
                  </a:extLst>
                </a:gridCol>
                <a:gridCol w="1064021">
                  <a:extLst>
                    <a:ext uri="{9D8B030D-6E8A-4147-A177-3AD203B41FA5}">
                      <a16:colId xmlns:a16="http://schemas.microsoft.com/office/drawing/2014/main" val="4252123731"/>
                    </a:ext>
                  </a:extLst>
                </a:gridCol>
                <a:gridCol w="1081761">
                  <a:extLst>
                    <a:ext uri="{9D8B030D-6E8A-4147-A177-3AD203B41FA5}">
                      <a16:colId xmlns:a16="http://schemas.microsoft.com/office/drawing/2014/main" val="3659012945"/>
                    </a:ext>
                  </a:extLst>
                </a:gridCol>
                <a:gridCol w="1046290">
                  <a:extLst>
                    <a:ext uri="{9D8B030D-6E8A-4147-A177-3AD203B41FA5}">
                      <a16:colId xmlns:a16="http://schemas.microsoft.com/office/drawing/2014/main" val="3271606506"/>
                    </a:ext>
                  </a:extLst>
                </a:gridCol>
                <a:gridCol w="1064021">
                  <a:extLst>
                    <a:ext uri="{9D8B030D-6E8A-4147-A177-3AD203B41FA5}">
                      <a16:colId xmlns:a16="http://schemas.microsoft.com/office/drawing/2014/main" val="665995531"/>
                    </a:ext>
                  </a:extLst>
                </a:gridCol>
                <a:gridCol w="1064021">
                  <a:extLst>
                    <a:ext uri="{9D8B030D-6E8A-4147-A177-3AD203B41FA5}">
                      <a16:colId xmlns:a16="http://schemas.microsoft.com/office/drawing/2014/main" val="1387292944"/>
                    </a:ext>
                  </a:extLst>
                </a:gridCol>
              </a:tblGrid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Image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sz="1800"/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TP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FP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FN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Precision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Recall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Stars</a:t>
                      </a:r>
                    </a:p>
                  </a:txBody>
                  <a:tcPr marL="91442" marR="91442" marT="45715" marB="45715" anchor="ctr"/>
                </a:tc>
                <a:extLst>
                  <a:ext uri="{0D108BD9-81ED-4DB2-BD59-A6C34878D82A}">
                    <a16:rowId xmlns:a16="http://schemas.microsoft.com/office/drawing/2014/main" val="719736809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0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sz="1800"/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120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178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73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0.4027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0.6218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298</a:t>
                      </a:r>
                    </a:p>
                  </a:txBody>
                  <a:tcPr marL="91442" marR="91442" marT="45715" marB="45715" anchor="ctr"/>
                </a:tc>
                <a:extLst>
                  <a:ext uri="{0D108BD9-81ED-4DB2-BD59-A6C34878D82A}">
                    <a16:rowId xmlns:a16="http://schemas.microsoft.com/office/drawing/2014/main" val="626635250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1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sz="1800"/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171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126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22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0.5758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0.8860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297</a:t>
                      </a:r>
                    </a:p>
                  </a:txBody>
                  <a:tcPr marL="91442" marR="91442" marT="45715" marB="45715" anchor="ctr"/>
                </a:tc>
                <a:extLst>
                  <a:ext uri="{0D108BD9-81ED-4DB2-BD59-A6C34878D82A}">
                    <a16:rowId xmlns:a16="http://schemas.microsoft.com/office/drawing/2014/main" val="1354345960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2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sz="1800"/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10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183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1.0000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0.0518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10</a:t>
                      </a:r>
                    </a:p>
                  </a:txBody>
                  <a:tcPr marL="91442" marR="91442" marT="45715" marB="45715" anchor="ctr"/>
                </a:tc>
                <a:extLst>
                  <a:ext uri="{0D108BD9-81ED-4DB2-BD59-A6C34878D82A}">
                    <a16:rowId xmlns:a16="http://schemas.microsoft.com/office/drawing/2014/main" val="3140993415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3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sz="1800"/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8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7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185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0.5333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0.0415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15</a:t>
                      </a:r>
                    </a:p>
                  </a:txBody>
                  <a:tcPr marL="91442" marR="91442" marT="45715" marB="45715" anchor="ctr"/>
                </a:tc>
                <a:extLst>
                  <a:ext uri="{0D108BD9-81ED-4DB2-BD59-A6C34878D82A}">
                    <a16:rowId xmlns:a16="http://schemas.microsoft.com/office/drawing/2014/main" val="349178267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4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sz="1800"/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9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184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0.9000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0.0466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10</a:t>
                      </a:r>
                    </a:p>
                  </a:txBody>
                  <a:tcPr marL="91442" marR="91442" marT="45715" marB="45715" anchor="ctr"/>
                </a:tc>
                <a:extLst>
                  <a:ext uri="{0D108BD9-81ED-4DB2-BD59-A6C34878D82A}">
                    <a16:rowId xmlns:a16="http://schemas.microsoft.com/office/drawing/2014/main" val="1343888644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5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sz="1800"/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4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8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189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0.3333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0.0207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12</a:t>
                      </a:r>
                    </a:p>
                  </a:txBody>
                  <a:tcPr marL="91442" marR="91442" marT="45715" marB="45715" anchor="ctr"/>
                </a:tc>
                <a:extLst>
                  <a:ext uri="{0D108BD9-81ED-4DB2-BD59-A6C34878D82A}">
                    <a16:rowId xmlns:a16="http://schemas.microsoft.com/office/drawing/2014/main" val="493846381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/>
                        <a:t>6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sz="1800"/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2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2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191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0.5000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/>
                        <a:t>0.0104</a:t>
                      </a:r>
                    </a:p>
                  </a:txBody>
                  <a:tcPr marL="91442" marR="91442" marT="45715" marB="45715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it-IT" sz="1800" dirty="0"/>
                        <a:t>4</a:t>
                      </a:r>
                    </a:p>
                  </a:txBody>
                  <a:tcPr marL="91442" marR="91442" marT="45715" marB="45715" anchor="ctr"/>
                </a:tc>
                <a:extLst>
                  <a:ext uri="{0D108BD9-81ED-4DB2-BD59-A6C34878D82A}">
                    <a16:rowId xmlns:a16="http://schemas.microsoft.com/office/drawing/2014/main" val="3972856690"/>
                  </a:ext>
                </a:extLst>
              </a:tr>
            </a:tbl>
          </a:graphicData>
        </a:graphic>
      </p:graphicFrame>
      <p:sp>
        <p:nvSpPr>
          <p:cNvPr id="11" name="CasellaDiTesto 5">
            <a:extLst>
              <a:ext uri="{FF2B5EF4-FFF2-40B4-BE49-F238E27FC236}">
                <a16:creationId xmlns:a16="http://schemas.microsoft.com/office/drawing/2014/main" id="{AD186C4C-4D4C-0B8E-BE97-32AB8BF7C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5750085"/>
            <a:ext cx="78216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it-IT" dirty="0">
                <a:solidFill>
                  <a:srgbClr val="000000"/>
                </a:solidFill>
              </a:rPr>
              <a:t>The number of stars decreases after the consolidation step.</a:t>
            </a:r>
          </a:p>
          <a:p>
            <a:pPr algn="ctr" eaLnBrk="1" hangingPunct="1"/>
            <a:endParaRPr lang="it-IT" altLang="it-IT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16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FE65-B5A9-AD47-37EA-3DBC354B4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D971223F-BF1E-334A-F45E-BABB34E9BE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59" r="66049"/>
          <a:stretch>
            <a:fillRect/>
          </a:stretch>
        </p:blipFill>
        <p:spPr>
          <a:xfrm>
            <a:off x="7279057" y="1162907"/>
            <a:ext cx="4757040" cy="4163208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DECB6AC6-F515-E055-5392-D2427C107C7C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DED7514-D1A2-04AB-ED96-9179D934EB4F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A134AB81-DF5F-677A-6EF4-755F02C74470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87DAEF99-672C-738D-7944-47709927EF4D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26457C78-98CA-61D7-B06D-EA434956491B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EDA8D868-DBBC-A2FB-1375-32D9C1BA782F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A35C5E5-DC06-0A79-F1A8-12310C1EB659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04345013-9AD1-F792-14FB-17C76F6C24EA}"/>
              </a:ext>
            </a:extLst>
          </p:cNvPr>
          <p:cNvGrpSpPr/>
          <p:nvPr/>
        </p:nvGrpSpPr>
        <p:grpSpPr>
          <a:xfrm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41F205BA-BB9B-4610-AA72-15260EB51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499E4F23-A9CE-C4A1-5E22-67EF7B4C2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24747D87-2214-226B-ABFF-CBDE824CC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394BACD1-AA6A-0B0B-43A1-902BF93D1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CB07C89A-228F-1E03-2F41-F9EE9BA5A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78291D07-A363-3369-4FA8-3EB0C3778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F87FE37-E6BA-C900-E853-48D85EF263E7}"/>
              </a:ext>
            </a:extLst>
          </p:cNvPr>
          <p:cNvSpPr txBox="1"/>
          <p:nvPr/>
        </p:nvSpPr>
        <p:spPr>
          <a:xfrm>
            <a:off x="3332681" y="421662"/>
            <a:ext cx="5785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Final Results: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 </a:t>
            </a:r>
            <a:r>
              <a:rPr lang="en-US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B1445F44-809B-2DBD-9858-6B423D1BF283}"/>
              </a:ext>
            </a:extLst>
          </p:cNvPr>
          <p:cNvCxnSpPr>
            <a:cxnSpLocks/>
          </p:cNvCxnSpPr>
          <p:nvPr/>
        </p:nvCxnSpPr>
        <p:spPr>
          <a:xfrm flipV="1">
            <a:off x="2281646" y="965926"/>
            <a:ext cx="1154974" cy="84654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D674CABE-30D3-8732-DC44-17C044FC1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8871" y="1279060"/>
            <a:ext cx="4486168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Categories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0–2 (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clean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/ mild 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noise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 err="1">
                <a:latin typeface="Book Antiqua" panose="02040602050305030304" pitchFamily="18" charset="0"/>
              </a:rPr>
              <a:t>Both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methods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achieve</a:t>
            </a:r>
            <a:r>
              <a:rPr lang="it-IT" altLang="it-IT" sz="1600" dirty="0">
                <a:latin typeface="Book Antiqua" panose="02040602050305030304" pitchFamily="18" charset="0"/>
              </a:rPr>
              <a:t> high </a:t>
            </a:r>
            <a:r>
              <a:rPr lang="it-IT" altLang="it-IT" sz="1600" dirty="0" err="1">
                <a:latin typeface="Book Antiqua" panose="02040602050305030304" pitchFamily="18" charset="0"/>
              </a:rPr>
              <a:t>precision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>
                <a:latin typeface="Book Antiqua" panose="02040602050305030304" pitchFamily="18" charset="0"/>
              </a:rPr>
              <a:t>LOST </a:t>
            </a:r>
            <a:r>
              <a:rPr lang="it-IT" altLang="it-IT" sz="1600" dirty="0" err="1">
                <a:latin typeface="Book Antiqua" panose="02040602050305030304" pitchFamily="18" charset="0"/>
              </a:rPr>
              <a:t>performs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optimally</a:t>
            </a:r>
            <a:r>
              <a:rPr lang="it-IT" altLang="it-IT" sz="1600" dirty="0">
                <a:latin typeface="Book Antiqua" panose="02040602050305030304" pitchFamily="18" charset="0"/>
              </a:rPr>
              <a:t> in </a:t>
            </a:r>
            <a:r>
              <a:rPr lang="it-IT" altLang="it-IT" sz="1600" dirty="0" err="1">
                <a:latin typeface="Book Antiqua" panose="02040602050305030304" pitchFamily="18" charset="0"/>
              </a:rPr>
              <a:t>ideal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conditions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600" dirty="0">
              <a:latin typeface="Book Antiqua" panose="0204060205030503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Categories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3–4 (high 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noise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, dark 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current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>
                <a:latin typeface="Book Antiqua" panose="02040602050305030304" pitchFamily="18" charset="0"/>
              </a:rPr>
              <a:t>LOST </a:t>
            </a:r>
            <a:r>
              <a:rPr lang="it-IT" altLang="it-IT" sz="1600" dirty="0" err="1">
                <a:latin typeface="Book Antiqua" panose="02040602050305030304" pitchFamily="18" charset="0"/>
              </a:rPr>
              <a:t>precision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degrades</a:t>
            </a:r>
            <a:r>
              <a:rPr lang="it-IT" altLang="it-IT" sz="1600" dirty="0">
                <a:latin typeface="Book Antiqua" panose="02040602050305030304" pitchFamily="18" charset="0"/>
              </a:rPr>
              <a:t> due to </a:t>
            </a:r>
            <a:r>
              <a:rPr lang="it-IT" altLang="it-IT" sz="1600" dirty="0" err="1">
                <a:latin typeface="Book Antiqua" panose="02040602050305030304" pitchFamily="18" charset="0"/>
              </a:rPr>
              <a:t>increasing</a:t>
            </a:r>
            <a:r>
              <a:rPr lang="it-IT" altLang="it-IT" sz="1600" dirty="0">
                <a:latin typeface="Book Antiqua" panose="02040602050305030304" pitchFamily="18" charset="0"/>
              </a:rPr>
              <a:t> false </a:t>
            </a:r>
            <a:r>
              <a:rPr lang="it-IT" altLang="it-IT" sz="1600" dirty="0" err="1">
                <a:latin typeface="Book Antiqua" panose="02040602050305030304" pitchFamily="18" charset="0"/>
              </a:rPr>
              <a:t>positives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>
                <a:latin typeface="Book Antiqua" panose="02040602050305030304" pitchFamily="18" charset="0"/>
              </a:rPr>
              <a:t>The </a:t>
            </a:r>
            <a:r>
              <a:rPr lang="it-IT" altLang="it-IT" sz="1600" dirty="0" err="1">
                <a:latin typeface="Book Antiqua" panose="02040602050305030304" pitchFamily="18" charset="0"/>
              </a:rPr>
              <a:t>proposed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method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maintains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b="1" dirty="0" err="1">
                <a:latin typeface="Book Antiqua" panose="02040602050305030304" pitchFamily="18" charset="0"/>
              </a:rPr>
              <a:t>precision</a:t>
            </a:r>
            <a:r>
              <a:rPr lang="it-IT" altLang="it-IT" sz="1600" b="1" dirty="0">
                <a:latin typeface="Book Antiqua" panose="02040602050305030304" pitchFamily="18" charset="0"/>
              </a:rPr>
              <a:t> &gt;90%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600" dirty="0">
              <a:latin typeface="Book Antiqua" panose="0204060205030503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Category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5 (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blur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>
                <a:latin typeface="Book Antiqua" panose="02040602050305030304" pitchFamily="18" charset="0"/>
              </a:rPr>
              <a:t>LOST </a:t>
            </a:r>
            <a:r>
              <a:rPr lang="it-IT" altLang="it-IT" sz="1600" dirty="0" err="1">
                <a:latin typeface="Book Antiqua" panose="02040602050305030304" pitchFamily="18" charset="0"/>
              </a:rPr>
              <a:t>fails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dramatically</a:t>
            </a:r>
            <a:r>
              <a:rPr lang="it-IT" altLang="it-IT" sz="1600" dirty="0">
                <a:latin typeface="Book Antiqua" panose="02040602050305030304" pitchFamily="18" charset="0"/>
              </a:rPr>
              <a:t> (</a:t>
            </a:r>
            <a:r>
              <a:rPr lang="it-IT" altLang="it-IT" sz="1600" dirty="0" err="1">
                <a:latin typeface="Book Antiqua" panose="02040602050305030304" pitchFamily="18" charset="0"/>
              </a:rPr>
              <a:t>precision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b="1" dirty="0">
                <a:latin typeface="Book Antiqua" panose="02040602050305030304" pitchFamily="18" charset="0"/>
              </a:rPr>
              <a:t>2.49%</a:t>
            </a:r>
            <a:r>
              <a:rPr lang="it-IT" altLang="it-IT" sz="1600" dirty="0">
                <a:latin typeface="Book Antiqua" panose="02040602050305030304" pitchFamily="18" charset="0"/>
              </a:rPr>
              <a:t>) due to </a:t>
            </a:r>
            <a:r>
              <a:rPr lang="it-IT" altLang="it-IT" sz="1600" dirty="0" err="1">
                <a:latin typeface="Book Antiqua" panose="02040602050305030304" pitchFamily="18" charset="0"/>
              </a:rPr>
              <a:t>noise</a:t>
            </a:r>
            <a:r>
              <a:rPr lang="it-IT" altLang="it-IT" sz="1600" dirty="0">
                <a:latin typeface="Book Antiqua" panose="02040602050305030304" pitchFamily="18" charset="0"/>
              </a:rPr>
              <a:t> and </a:t>
            </a:r>
            <a:r>
              <a:rPr lang="it-IT" altLang="it-IT" sz="1600" dirty="0" err="1">
                <a:latin typeface="Book Antiqua" panose="02040602050305030304" pitchFamily="18" charset="0"/>
              </a:rPr>
              <a:t>blur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peaks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>
                <a:latin typeface="Book Antiqua" panose="02040602050305030304" pitchFamily="18" charset="0"/>
              </a:rPr>
              <a:t>The </a:t>
            </a:r>
            <a:r>
              <a:rPr lang="it-IT" altLang="it-IT" sz="1600" dirty="0" err="1">
                <a:latin typeface="Book Antiqua" panose="02040602050305030304" pitchFamily="18" charset="0"/>
              </a:rPr>
              <a:t>proposed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method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remains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b="1" dirty="0" err="1">
                <a:latin typeface="Book Antiqua" panose="02040602050305030304" pitchFamily="18" charset="0"/>
              </a:rPr>
              <a:t>stable</a:t>
            </a:r>
            <a:r>
              <a:rPr lang="it-IT" altLang="it-IT" sz="1600" b="1" dirty="0">
                <a:latin typeface="Book Antiqua" panose="02040602050305030304" pitchFamily="18" charset="0"/>
              </a:rPr>
              <a:t> and </a:t>
            </a:r>
            <a:r>
              <a:rPr lang="it-IT" altLang="it-IT" sz="1600" b="1" dirty="0" err="1">
                <a:latin typeface="Book Antiqua" panose="02040602050305030304" pitchFamily="18" charset="0"/>
              </a:rPr>
              <a:t>reliable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600" dirty="0">
              <a:latin typeface="Book Antiqua" panose="0204060205030503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Category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6 (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blur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+ dark 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current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 err="1">
                <a:latin typeface="Book Antiqua" panose="02040602050305030304" pitchFamily="18" charset="0"/>
              </a:rPr>
              <a:t>Proposed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method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continues</a:t>
            </a:r>
            <a:r>
              <a:rPr lang="it-IT" altLang="it-IT" sz="1600" dirty="0">
                <a:latin typeface="Book Antiqua" panose="02040602050305030304" pitchFamily="18" charset="0"/>
              </a:rPr>
              <a:t> to control false </a:t>
            </a:r>
            <a:r>
              <a:rPr lang="it-IT" altLang="it-IT" sz="1600" dirty="0" err="1">
                <a:latin typeface="Book Antiqua" panose="02040602050305030304" pitchFamily="18" charset="0"/>
              </a:rPr>
              <a:t>detections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>
                <a:latin typeface="Book Antiqua" panose="02040602050305030304" pitchFamily="18" charset="0"/>
              </a:rPr>
              <a:t>LOST shows </a:t>
            </a:r>
            <a:r>
              <a:rPr lang="it-IT" altLang="it-IT" sz="1600" dirty="0" err="1">
                <a:latin typeface="Book Antiqua" panose="02040602050305030304" pitchFamily="18" charset="0"/>
              </a:rPr>
              <a:t>unstable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behavior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dirty="0">
              <a:latin typeface="Book Antiqua" panose="02040602050305030304" pitchFamily="18" charset="0"/>
            </a:endParaRP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24B76697-17CD-EB6E-69D8-4BBBA8F8DC88}"/>
              </a:ext>
            </a:extLst>
          </p:cNvPr>
          <p:cNvCxnSpPr>
            <a:cxnSpLocks/>
          </p:cNvCxnSpPr>
          <p:nvPr/>
        </p:nvCxnSpPr>
        <p:spPr>
          <a:xfrm>
            <a:off x="3006830" y="1389200"/>
            <a:ext cx="0" cy="5342699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799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94815-E172-1E70-FA07-977B31A43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2A530FC7-716A-EC7A-CC92-AE0982666D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70" t="8248" r="33453"/>
          <a:stretch>
            <a:fillRect/>
          </a:stretch>
        </p:blipFill>
        <p:spPr>
          <a:xfrm>
            <a:off x="7139854" y="1605889"/>
            <a:ext cx="4769957" cy="4094542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D69289DD-82CA-6F8D-5C16-E1799C348E00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EA0DF69-9B5B-8E79-1A62-FB009A84350D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54D6FD47-A723-DB8F-1A2F-B46381933D3A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1B7008B4-032F-3A23-37EE-71DB5B079576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1FF6666E-B162-8B06-EBA0-694742E287A9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85BB4F7F-8F9B-166E-B7C0-6F5E74623F51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7ED6E23-FBFA-4BA3-491A-AABD5002AE48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13774907-D38C-DE77-901D-4EB96B0E6033}"/>
              </a:ext>
            </a:extLst>
          </p:cNvPr>
          <p:cNvGrpSpPr/>
          <p:nvPr/>
        </p:nvGrpSpPr>
        <p:grpSpPr>
          <a:xfrm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1DB237CC-B6EC-DB5E-D62F-6776A3CA2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A3C2023C-64BA-35C7-DDD8-15951C3D6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3C3B690D-D921-F5A1-1652-9B35823F1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6C7D73C8-CE84-CBD9-F683-B4CBCE4A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3D182E8B-0EB3-01F1-28DD-DDD8E4BA0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C765BDCA-1D91-2B63-92B6-49AF5D776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EE0FDB8-AF88-9E49-D64F-81E197FFE9B2}"/>
              </a:ext>
            </a:extLst>
          </p:cNvPr>
          <p:cNvSpPr txBox="1"/>
          <p:nvPr/>
        </p:nvSpPr>
        <p:spPr>
          <a:xfrm>
            <a:off x="3332681" y="421662"/>
            <a:ext cx="5785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Final Results: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 </a:t>
            </a:r>
            <a:r>
              <a:rPr lang="en-US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988E66D9-D811-195F-0A6B-BF3D3A8F798A}"/>
              </a:ext>
            </a:extLst>
          </p:cNvPr>
          <p:cNvCxnSpPr>
            <a:cxnSpLocks/>
          </p:cNvCxnSpPr>
          <p:nvPr/>
        </p:nvCxnSpPr>
        <p:spPr>
          <a:xfrm flipV="1">
            <a:off x="2281646" y="965926"/>
            <a:ext cx="1154974" cy="84654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4E82C2CB-6F83-DEE2-8EB9-E4F10F50D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608" y="2068110"/>
            <a:ext cx="399219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dirty="0">
                <a:latin typeface="Book Antiqua" panose="02040602050305030304" pitchFamily="18" charset="0"/>
              </a:rPr>
              <a:t>Recall </a:t>
            </a:r>
            <a:r>
              <a:rPr lang="it-IT" altLang="it-IT" sz="2000" dirty="0" err="1">
                <a:latin typeface="Book Antiqua" panose="02040602050305030304" pitchFamily="18" charset="0"/>
              </a:rPr>
              <a:t>decreases</a:t>
            </a:r>
            <a:r>
              <a:rPr lang="it-IT" altLang="it-IT" sz="2000" dirty="0">
                <a:latin typeface="Book Antiqua" panose="02040602050305030304" pitchFamily="18" charset="0"/>
              </a:rPr>
              <a:t> for </a:t>
            </a:r>
            <a:r>
              <a:rPr lang="it-IT" altLang="it-IT" sz="2000" b="1" dirty="0" err="1">
                <a:latin typeface="Book Antiqua" panose="02040602050305030304" pitchFamily="18" charset="0"/>
              </a:rPr>
              <a:t>both</a:t>
            </a:r>
            <a:r>
              <a:rPr lang="it-IT" altLang="it-IT" sz="2000" b="1" dirty="0">
                <a:latin typeface="Book Antiqua" panose="02040602050305030304" pitchFamily="18" charset="0"/>
              </a:rPr>
              <a:t> </a:t>
            </a:r>
            <a:r>
              <a:rPr lang="it-IT" altLang="it-IT" sz="2000" b="1" dirty="0" err="1">
                <a:latin typeface="Book Antiqua" panose="02040602050305030304" pitchFamily="18" charset="0"/>
              </a:rPr>
              <a:t>methods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as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noise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increases</a:t>
            </a:r>
            <a:r>
              <a:rPr lang="it-IT" altLang="it-IT" sz="20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it-IT" altLang="it-IT" sz="2000" dirty="0">
              <a:latin typeface="Book Antiqua" panose="0204060205030503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dirty="0" err="1">
                <a:latin typeface="Book Antiqua" panose="02040602050305030304" pitchFamily="18" charset="0"/>
              </a:rPr>
              <a:t>Degradation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is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strongest</a:t>
            </a:r>
            <a:r>
              <a:rPr lang="it-IT" altLang="it-IT" sz="2000" dirty="0">
                <a:latin typeface="Book Antiqua" panose="02040602050305030304" pitchFamily="18" charset="0"/>
              </a:rPr>
              <a:t> in </a:t>
            </a:r>
            <a:r>
              <a:rPr lang="it-IT" altLang="it-IT" sz="2000" b="1" dirty="0" err="1">
                <a:latin typeface="Book Antiqua" panose="02040602050305030304" pitchFamily="18" charset="0"/>
              </a:rPr>
              <a:t>severely</a:t>
            </a:r>
            <a:r>
              <a:rPr lang="it-IT" altLang="it-IT" sz="2000" b="1" dirty="0">
                <a:latin typeface="Book Antiqua" panose="02040602050305030304" pitchFamily="18" charset="0"/>
              </a:rPr>
              <a:t> </a:t>
            </a:r>
            <a:r>
              <a:rPr lang="it-IT" altLang="it-IT" sz="2000" b="1" dirty="0" err="1">
                <a:latin typeface="Book Antiqua" panose="02040602050305030304" pitchFamily="18" charset="0"/>
              </a:rPr>
              <a:t>noisy</a:t>
            </a:r>
            <a:r>
              <a:rPr lang="it-IT" altLang="it-IT" sz="2000" b="1" dirty="0">
                <a:latin typeface="Book Antiqua" panose="02040602050305030304" pitchFamily="18" charset="0"/>
              </a:rPr>
              <a:t> and </a:t>
            </a:r>
            <a:r>
              <a:rPr lang="it-IT" altLang="it-IT" sz="2000" b="1" dirty="0" err="1">
                <a:latin typeface="Book Antiqua" panose="02040602050305030304" pitchFamily="18" charset="0"/>
              </a:rPr>
              <a:t>blurred</a:t>
            </a:r>
            <a:r>
              <a:rPr lang="it-IT" altLang="it-IT" sz="2000" b="1" dirty="0">
                <a:latin typeface="Book Antiqua" panose="02040602050305030304" pitchFamily="18" charset="0"/>
              </a:rPr>
              <a:t> </a:t>
            </a:r>
            <a:r>
              <a:rPr lang="it-IT" altLang="it-IT" sz="2000" b="1" dirty="0" err="1">
                <a:latin typeface="Book Antiqua" panose="02040602050305030304" pitchFamily="18" charset="0"/>
              </a:rPr>
              <a:t>categories</a:t>
            </a:r>
            <a:r>
              <a:rPr lang="it-IT" altLang="it-IT" sz="20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it-IT" altLang="it-IT" sz="2000" dirty="0">
              <a:latin typeface="Book Antiqua" panose="0204060205030503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dirty="0">
                <a:latin typeface="Book Antiqua" panose="02040602050305030304" pitchFamily="18" charset="0"/>
              </a:rPr>
              <a:t>The </a:t>
            </a:r>
            <a:r>
              <a:rPr lang="it-IT" altLang="it-IT" sz="2000" dirty="0" err="1">
                <a:latin typeface="Book Antiqua" panose="02040602050305030304" pitchFamily="18" charset="0"/>
              </a:rPr>
              <a:t>proposed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method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achieves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b="1" dirty="0">
                <a:latin typeface="Book Antiqua" panose="02040602050305030304" pitchFamily="18" charset="0"/>
              </a:rPr>
              <a:t>comparable or </a:t>
            </a:r>
            <a:r>
              <a:rPr lang="it-IT" altLang="it-IT" sz="2000" b="1" dirty="0" err="1">
                <a:latin typeface="Book Antiqua" panose="02040602050305030304" pitchFamily="18" charset="0"/>
              </a:rPr>
              <a:t>slightly</a:t>
            </a:r>
            <a:r>
              <a:rPr lang="it-IT" altLang="it-IT" sz="2000" b="1" dirty="0">
                <a:latin typeface="Book Antiqua" panose="02040602050305030304" pitchFamily="18" charset="0"/>
              </a:rPr>
              <a:t> </a:t>
            </a:r>
            <a:r>
              <a:rPr lang="it-IT" altLang="it-IT" sz="2000" b="1" dirty="0" err="1">
                <a:latin typeface="Book Antiqua" panose="02040602050305030304" pitchFamily="18" charset="0"/>
              </a:rPr>
              <a:t>higher</a:t>
            </a:r>
            <a:r>
              <a:rPr lang="it-IT" altLang="it-IT" sz="2000" b="1" dirty="0">
                <a:latin typeface="Book Antiqua" panose="02040602050305030304" pitchFamily="18" charset="0"/>
              </a:rPr>
              <a:t> recall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than</a:t>
            </a:r>
            <a:r>
              <a:rPr lang="it-IT" altLang="it-IT" sz="2000" dirty="0">
                <a:latin typeface="Book Antiqua" panose="02040602050305030304" pitchFamily="18" charset="0"/>
              </a:rPr>
              <a:t> LOST in </a:t>
            </a:r>
            <a:r>
              <a:rPr lang="it-IT" altLang="it-IT" sz="2000" dirty="0" err="1">
                <a:latin typeface="Book Antiqua" panose="02040602050305030304" pitchFamily="18" charset="0"/>
              </a:rPr>
              <a:t>most</a:t>
            </a:r>
            <a:r>
              <a:rPr lang="it-IT" altLang="it-IT" sz="2000" dirty="0">
                <a:latin typeface="Book Antiqua" panose="02040602050305030304" pitchFamily="18" charset="0"/>
              </a:rPr>
              <a:t> classes.</a:t>
            </a: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BE039D76-26F8-F204-5018-16D593DB88A9}"/>
              </a:ext>
            </a:extLst>
          </p:cNvPr>
          <p:cNvCxnSpPr>
            <a:cxnSpLocks/>
          </p:cNvCxnSpPr>
          <p:nvPr/>
        </p:nvCxnSpPr>
        <p:spPr>
          <a:xfrm flipH="1">
            <a:off x="3173088" y="1856507"/>
            <a:ext cx="28003" cy="3531491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212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413C9-E0B8-A88F-1FBF-0D08AEAB0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9A32BA47-7ABA-53BA-9024-DA3E318E0A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554" t="4714"/>
          <a:stretch>
            <a:fillRect/>
          </a:stretch>
        </p:blipFill>
        <p:spPr>
          <a:xfrm>
            <a:off x="7256983" y="1416443"/>
            <a:ext cx="4751427" cy="4214186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54E6C3EC-5716-667B-5A00-B380387705C3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DA4CDB1-EBDB-14AB-862A-99F2A3921C9E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31880744-8F52-191A-D0B1-D6BA1725C4D8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83148268-93C7-2D3A-2928-E97435289364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76D8AE25-1BA7-061B-436A-F2B0ECE3D864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62CEA33F-D5F7-08B9-6F3A-129513B113BF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1F70425-72B9-427B-5793-2EA44E45129B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25DDDC7F-AE04-F850-3204-9CCF3EA5EC72}"/>
              </a:ext>
            </a:extLst>
          </p:cNvPr>
          <p:cNvGrpSpPr/>
          <p:nvPr/>
        </p:nvGrpSpPr>
        <p:grpSpPr>
          <a:xfrm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4E90F9AD-B111-74E4-7AB8-C6C0B9227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12545C93-B7E5-8B60-765A-3028418DC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EF9D0B64-3A66-F290-8FA7-561E875CE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4602300C-BED0-4139-8D23-1E2C7DD03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01564C6A-D4C6-A2AE-91B8-C905E778E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CC2D4411-9B9A-7228-3AD2-28CBEBCB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BFCB0CB-6BB0-5CA6-8293-0AD38EB259B4}"/>
              </a:ext>
            </a:extLst>
          </p:cNvPr>
          <p:cNvSpPr txBox="1"/>
          <p:nvPr/>
        </p:nvSpPr>
        <p:spPr>
          <a:xfrm>
            <a:off x="3332681" y="421662"/>
            <a:ext cx="5785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Final Results: 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 </a:t>
            </a:r>
            <a:r>
              <a:rPr lang="en-US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A0F127BB-C230-0AA5-4F48-D940E7B32810}"/>
              </a:ext>
            </a:extLst>
          </p:cNvPr>
          <p:cNvCxnSpPr>
            <a:cxnSpLocks/>
          </p:cNvCxnSpPr>
          <p:nvPr/>
        </p:nvCxnSpPr>
        <p:spPr>
          <a:xfrm flipV="1">
            <a:off x="2281646" y="965926"/>
            <a:ext cx="1154974" cy="84654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E963A472-F8FE-8682-9F10-BE131382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608" y="2375887"/>
            <a:ext cx="399219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dirty="0">
                <a:latin typeface="Book Antiqua" panose="02040602050305030304" pitchFamily="18" charset="0"/>
              </a:rPr>
              <a:t>F1-score drops in </a:t>
            </a:r>
            <a:r>
              <a:rPr lang="it-IT" altLang="it-IT" sz="2000" dirty="0" err="1">
                <a:latin typeface="Book Antiqua" panose="02040602050305030304" pitchFamily="18" charset="0"/>
              </a:rPr>
              <a:t>highly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degraded</a:t>
            </a:r>
            <a:r>
              <a:rPr lang="it-IT" altLang="it-IT" sz="2000" dirty="0">
                <a:latin typeface="Book Antiqua" panose="02040602050305030304" pitchFamily="18" charset="0"/>
              </a:rPr>
              <a:t> images due to recall </a:t>
            </a:r>
            <a:r>
              <a:rPr lang="it-IT" altLang="it-IT" sz="2000" dirty="0" err="1">
                <a:latin typeface="Book Antiqua" panose="02040602050305030304" pitchFamily="18" charset="0"/>
              </a:rPr>
              <a:t>loss</a:t>
            </a:r>
            <a:r>
              <a:rPr lang="it-IT" altLang="it-IT" sz="20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it-IT" altLang="it-IT" sz="2000" dirty="0">
              <a:latin typeface="Book Antiqua" panose="0204060205030503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dirty="0" err="1">
                <a:latin typeface="Book Antiqua" panose="02040602050305030304" pitchFamily="18" charset="0"/>
              </a:rPr>
              <a:t>Despite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this</a:t>
            </a:r>
            <a:r>
              <a:rPr lang="it-IT" altLang="it-IT" sz="2000" dirty="0">
                <a:latin typeface="Book Antiqua" panose="02040602050305030304" pitchFamily="18" charset="0"/>
              </a:rPr>
              <a:t>, the </a:t>
            </a:r>
            <a:r>
              <a:rPr lang="it-IT" altLang="it-IT" sz="2000" dirty="0" err="1">
                <a:latin typeface="Book Antiqua" panose="02040602050305030304" pitchFamily="18" charset="0"/>
              </a:rPr>
              <a:t>proposed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method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consistently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achieves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b="1" dirty="0" err="1">
                <a:latin typeface="Book Antiqua" panose="02040602050305030304" pitchFamily="18" charset="0"/>
              </a:rPr>
              <a:t>higher</a:t>
            </a:r>
            <a:r>
              <a:rPr lang="it-IT" altLang="it-IT" sz="2000" b="1" dirty="0">
                <a:latin typeface="Book Antiqua" panose="02040602050305030304" pitchFamily="18" charset="0"/>
              </a:rPr>
              <a:t> F1-scores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than</a:t>
            </a:r>
            <a:r>
              <a:rPr lang="it-IT" altLang="it-IT" sz="2000" dirty="0">
                <a:latin typeface="Book Antiqua" panose="02040602050305030304" pitchFamily="18" charset="0"/>
              </a:rPr>
              <a:t> LOST </a:t>
            </a:r>
            <a:r>
              <a:rPr lang="it-IT" altLang="it-IT" sz="2000" dirty="0" err="1">
                <a:latin typeface="Book Antiqua" panose="02040602050305030304" pitchFamily="18" charset="0"/>
              </a:rPr>
              <a:t>across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most</a:t>
            </a:r>
            <a:r>
              <a:rPr lang="it-IT" altLang="it-IT" sz="2000" dirty="0">
                <a:latin typeface="Book Antiqua" panose="02040602050305030304" pitchFamily="18" charset="0"/>
              </a:rPr>
              <a:t> </a:t>
            </a:r>
            <a:r>
              <a:rPr lang="it-IT" altLang="it-IT" sz="2000" dirty="0" err="1">
                <a:latin typeface="Book Antiqua" panose="02040602050305030304" pitchFamily="18" charset="0"/>
              </a:rPr>
              <a:t>categories</a:t>
            </a:r>
            <a:r>
              <a:rPr lang="it-IT" altLang="it-IT" sz="2000" dirty="0">
                <a:latin typeface="Book Antiqua" panose="02040602050305030304" pitchFamily="18" charset="0"/>
              </a:rPr>
              <a:t>.</a:t>
            </a: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48A0AA0F-0190-38C3-FE43-00223A6EC45A}"/>
              </a:ext>
            </a:extLst>
          </p:cNvPr>
          <p:cNvCxnSpPr>
            <a:cxnSpLocks/>
          </p:cNvCxnSpPr>
          <p:nvPr/>
        </p:nvCxnSpPr>
        <p:spPr>
          <a:xfrm flipH="1">
            <a:off x="3173088" y="1856507"/>
            <a:ext cx="28003" cy="3531491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365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DCEC5-0F15-D71D-B6AC-869B0227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0D8834A6-3374-1295-E4C7-B62E6CF2B0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11" r="66383"/>
          <a:stretch>
            <a:fillRect/>
          </a:stretch>
        </p:blipFill>
        <p:spPr>
          <a:xfrm>
            <a:off x="7079673" y="1489655"/>
            <a:ext cx="4928737" cy="4226137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4656E79A-64DB-483A-0334-3F2695134353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0C8DC10-B634-0D52-E287-F0A691F20208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E9B619EF-B743-7731-E9D4-A7B9E874D352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79494037-35CD-E99C-DDE7-E895C82CE114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00EF75C5-32FB-7695-8024-AB5C63F7CA69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88D4C9C4-4899-E041-FCF5-4B5CE3A1B606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E3425FF-D2DD-2A8E-88F6-4E558E9B7A74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F188A780-F687-0FB0-A047-0E2CE1C47313}"/>
              </a:ext>
            </a:extLst>
          </p:cNvPr>
          <p:cNvGrpSpPr/>
          <p:nvPr/>
        </p:nvGrpSpPr>
        <p:grpSpPr>
          <a:xfrm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DE738446-B659-7C59-F2A4-CFEB61315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68E0433C-B09A-34A3-B4DC-9DA79600F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33E5D513-17FC-B04C-FD3C-D654DC4FE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D75DFC1E-7093-336A-F95A-7C7D9C85B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36A30F5A-C3E9-2360-1539-3A891CB6E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E103D320-9DC0-BAF2-852E-09218EC69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0D67201-FC76-1FE7-164A-3FB7BCE3B169}"/>
              </a:ext>
            </a:extLst>
          </p:cNvPr>
          <p:cNvSpPr txBox="1"/>
          <p:nvPr/>
        </p:nvSpPr>
        <p:spPr>
          <a:xfrm>
            <a:off x="3332681" y="421662"/>
            <a:ext cx="6808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Final Results: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745AEE44-29A2-161A-B27A-E48D6F400E16}"/>
              </a:ext>
            </a:extLst>
          </p:cNvPr>
          <p:cNvCxnSpPr>
            <a:cxnSpLocks/>
          </p:cNvCxnSpPr>
          <p:nvPr/>
        </p:nvCxnSpPr>
        <p:spPr>
          <a:xfrm flipV="1">
            <a:off x="2281646" y="965926"/>
            <a:ext cx="1154974" cy="84654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D29A30BC-5CAD-AA7D-D5CF-892A2B269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4662" y="1679169"/>
            <a:ext cx="4429889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Categories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0–1 (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ideal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/ low 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noise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>
                <a:latin typeface="Book Antiqua" panose="02040602050305030304" pitchFamily="18" charset="0"/>
              </a:rPr>
              <a:t>LOST </a:t>
            </a:r>
            <a:r>
              <a:rPr lang="it-IT" altLang="it-IT" sz="1600" dirty="0" err="1">
                <a:latin typeface="Book Antiqua" panose="02040602050305030304" pitchFamily="18" charset="0"/>
              </a:rPr>
              <a:t>slightly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outperforms</a:t>
            </a:r>
            <a:r>
              <a:rPr lang="it-IT" altLang="it-IT" sz="1600" dirty="0">
                <a:latin typeface="Book Antiqua" panose="02040602050305030304" pitchFamily="18" charset="0"/>
              </a:rPr>
              <a:t> due to </a:t>
            </a:r>
            <a:r>
              <a:rPr lang="it-IT" altLang="it-IT" sz="1600" dirty="0" err="1">
                <a:latin typeface="Book Antiqua" panose="02040602050305030304" pitchFamily="18" charset="0"/>
              </a:rPr>
              <a:t>its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role</a:t>
            </a:r>
            <a:r>
              <a:rPr lang="it-IT" altLang="it-IT" sz="1600" dirty="0">
                <a:latin typeface="Book Antiqua" panose="02040602050305030304" pitchFamily="18" charset="0"/>
              </a:rPr>
              <a:t> in image generation.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it-IT" altLang="it-IT" sz="1600" dirty="0">
              <a:latin typeface="Book Antiqua" panose="0204060205030503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Categories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2–4 (moderate 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noise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, dark 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current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>
                <a:latin typeface="Book Antiqua" panose="02040602050305030304" pitchFamily="18" charset="0"/>
              </a:rPr>
              <a:t>The </a:t>
            </a:r>
            <a:r>
              <a:rPr lang="it-IT" altLang="it-IT" sz="1600" dirty="0" err="1">
                <a:latin typeface="Book Antiqua" panose="02040602050305030304" pitchFamily="18" charset="0"/>
              </a:rPr>
              <a:t>proposed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method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achieves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b="1" dirty="0">
                <a:latin typeface="Book Antiqua" panose="02040602050305030304" pitchFamily="18" charset="0"/>
              </a:rPr>
              <a:t>comparable or </a:t>
            </a:r>
            <a:r>
              <a:rPr lang="it-IT" altLang="it-IT" sz="1600" b="1" dirty="0" err="1">
                <a:latin typeface="Book Antiqua" panose="02040602050305030304" pitchFamily="18" charset="0"/>
              </a:rPr>
              <a:t>higher</a:t>
            </a:r>
            <a:r>
              <a:rPr lang="it-IT" altLang="it-IT" sz="1600" b="1" dirty="0">
                <a:latin typeface="Book Antiqua" panose="02040602050305030304" pitchFamily="18" charset="0"/>
              </a:rPr>
              <a:t> </a:t>
            </a:r>
            <a:r>
              <a:rPr lang="it-IT" altLang="it-IT" sz="1600" b="1" dirty="0" err="1">
                <a:latin typeface="Book Antiqua" panose="02040602050305030304" pitchFamily="18" charset="0"/>
              </a:rPr>
              <a:t>numbers</a:t>
            </a:r>
            <a:r>
              <a:rPr lang="it-IT" altLang="it-IT" sz="1600" b="1" dirty="0">
                <a:latin typeface="Book Antiqua" panose="02040602050305030304" pitchFamily="18" charset="0"/>
              </a:rPr>
              <a:t> of </a:t>
            </a:r>
            <a:r>
              <a:rPr lang="it-IT" altLang="it-IT" sz="1600" b="1" dirty="0" err="1">
                <a:latin typeface="Book Antiqua" panose="02040602050305030304" pitchFamily="18" charset="0"/>
              </a:rPr>
              <a:t>correct</a:t>
            </a:r>
            <a:r>
              <a:rPr lang="it-IT" altLang="it-IT" sz="1600" b="1" dirty="0">
                <a:latin typeface="Book Antiqua" panose="02040602050305030304" pitchFamily="18" charset="0"/>
              </a:rPr>
              <a:t> matches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it-IT" altLang="it-IT" sz="1600" dirty="0">
              <a:latin typeface="Book Antiqua" panose="0204060205030503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Category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5 (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blur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>
                <a:latin typeface="Book Antiqua" panose="02040602050305030304" pitchFamily="18" charset="0"/>
              </a:rPr>
              <a:t>LOST reports an </a:t>
            </a:r>
            <a:r>
              <a:rPr lang="it-IT" altLang="it-IT" sz="1600" b="1" dirty="0" err="1">
                <a:latin typeface="Book Antiqua" panose="02040602050305030304" pitchFamily="18" charset="0"/>
              </a:rPr>
              <a:t>artificially</a:t>
            </a:r>
            <a:r>
              <a:rPr lang="it-IT" altLang="it-IT" sz="1600" b="1" dirty="0">
                <a:latin typeface="Book Antiqua" panose="02040602050305030304" pitchFamily="18" charset="0"/>
              </a:rPr>
              <a:t> high </a:t>
            </a:r>
            <a:r>
              <a:rPr lang="it-IT" altLang="it-IT" sz="1600" b="1" dirty="0" err="1">
                <a:latin typeface="Book Antiqua" panose="02040602050305030304" pitchFamily="18" charset="0"/>
              </a:rPr>
              <a:t>number</a:t>
            </a:r>
            <a:r>
              <a:rPr lang="it-IT" altLang="it-IT" sz="1600" b="1" dirty="0">
                <a:latin typeface="Book Antiqua" panose="02040602050305030304" pitchFamily="18" charset="0"/>
              </a:rPr>
              <a:t> of matches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caused</a:t>
            </a:r>
            <a:r>
              <a:rPr lang="it-IT" altLang="it-IT" sz="1600" dirty="0">
                <a:latin typeface="Book Antiqua" panose="02040602050305030304" pitchFamily="18" charset="0"/>
              </a:rPr>
              <a:t> by over-</a:t>
            </a:r>
            <a:r>
              <a:rPr lang="it-IT" altLang="it-IT" sz="1600" dirty="0" err="1">
                <a:latin typeface="Book Antiqua" panose="02040602050305030304" pitchFamily="18" charset="0"/>
              </a:rPr>
              <a:t>detection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>
                <a:latin typeface="Book Antiqua" panose="02040602050305030304" pitchFamily="18" charset="0"/>
              </a:rPr>
              <a:t>The </a:t>
            </a:r>
            <a:r>
              <a:rPr lang="it-IT" altLang="it-IT" sz="1600" dirty="0" err="1">
                <a:latin typeface="Book Antiqua" panose="02040602050305030304" pitchFamily="18" charset="0"/>
              </a:rPr>
              <a:t>proposed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method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remains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consistent</a:t>
            </a:r>
            <a:r>
              <a:rPr lang="it-IT" altLang="it-IT" sz="1600" dirty="0">
                <a:latin typeface="Book Antiqua" panose="02040602050305030304" pitchFamily="18" charset="0"/>
              </a:rPr>
              <a:t> and </a:t>
            </a:r>
            <a:r>
              <a:rPr lang="it-IT" altLang="it-IT" sz="1600" dirty="0" err="1">
                <a:latin typeface="Book Antiqua" panose="02040602050305030304" pitchFamily="18" charset="0"/>
              </a:rPr>
              <a:t>realistic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it-IT" altLang="it-IT" sz="1600" dirty="0">
              <a:latin typeface="Book Antiqua" panose="0204060205030503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Category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6 (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blur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+ dark 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current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 err="1">
                <a:latin typeface="Book Antiqua" panose="02040602050305030304" pitchFamily="18" charset="0"/>
              </a:rPr>
              <a:t>Both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methods</a:t>
            </a:r>
            <a:r>
              <a:rPr lang="it-IT" altLang="it-IT" sz="1600" dirty="0">
                <a:latin typeface="Book Antiqua" panose="02040602050305030304" pitchFamily="18" charset="0"/>
              </a:rPr>
              <a:t> show </a:t>
            </a:r>
            <a:r>
              <a:rPr lang="it-IT" altLang="it-IT" sz="1600" b="1" dirty="0" err="1">
                <a:latin typeface="Book Antiqua" panose="02040602050305030304" pitchFamily="18" charset="0"/>
              </a:rPr>
              <a:t>similarly</a:t>
            </a:r>
            <a:r>
              <a:rPr lang="it-IT" altLang="it-IT" sz="1600" b="1" dirty="0">
                <a:latin typeface="Book Antiqua" panose="02040602050305030304" pitchFamily="18" charset="0"/>
              </a:rPr>
              <a:t> low performance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600" dirty="0">
              <a:latin typeface="Book Antiqua" panose="02040602050305030304" pitchFamily="18" charset="0"/>
            </a:endParaRP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E9E34450-EEBA-3EA1-1F37-0D4852C849C8}"/>
              </a:ext>
            </a:extLst>
          </p:cNvPr>
          <p:cNvCxnSpPr>
            <a:cxnSpLocks/>
          </p:cNvCxnSpPr>
          <p:nvPr/>
        </p:nvCxnSpPr>
        <p:spPr>
          <a:xfrm flipH="1">
            <a:off x="2943451" y="1617614"/>
            <a:ext cx="45653" cy="504378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538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68A8D-8F46-F924-1351-528EF3A14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10AE4417-78BE-497B-D924-8711ABB831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68" t="6959" r="33227"/>
          <a:stretch>
            <a:fillRect/>
          </a:stretch>
        </p:blipFill>
        <p:spPr>
          <a:xfrm>
            <a:off x="7146583" y="1376285"/>
            <a:ext cx="4933323" cy="4303504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53618449-F153-7799-3886-055D804101F4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6BC1BF7-6942-C948-5613-3DB8DDC4436A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617E9890-57DA-5CFF-C446-CB1942C5F71B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CD2F0AF6-BE89-6A9E-8437-10D4725054A1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21127D97-4508-DE8D-39DF-B52C95048C9E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D717F2D8-E4BB-D495-C17B-796CEFED8217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4C721B7-1563-288B-6F2A-11DA78ED508F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B15A46AF-DC2B-3CAA-ACD8-F852C37E1D8A}"/>
              </a:ext>
            </a:extLst>
          </p:cNvPr>
          <p:cNvGrpSpPr/>
          <p:nvPr/>
        </p:nvGrpSpPr>
        <p:grpSpPr>
          <a:xfrm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E663A06B-1621-13D4-89A4-7A8D5EE30E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E4185F7C-B058-FA14-543F-5B0F7225B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6279757B-AE62-0C12-6371-FDF1C8EB3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00C480C2-C8EE-9153-E368-744B2A934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93DB2D96-12CF-E9B5-413A-37B1D0FD7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55F3ED54-2F8F-603B-3CDA-B8C66DE54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F184F38-3A66-2534-7A46-D45358A66E20}"/>
              </a:ext>
            </a:extLst>
          </p:cNvPr>
          <p:cNvSpPr txBox="1"/>
          <p:nvPr/>
        </p:nvSpPr>
        <p:spPr>
          <a:xfrm>
            <a:off x="3332681" y="421662"/>
            <a:ext cx="6808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Final Results: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118AC5C5-EB7B-59E9-08EC-69946F691451}"/>
              </a:ext>
            </a:extLst>
          </p:cNvPr>
          <p:cNvCxnSpPr>
            <a:cxnSpLocks/>
          </p:cNvCxnSpPr>
          <p:nvPr/>
        </p:nvCxnSpPr>
        <p:spPr>
          <a:xfrm flipV="1">
            <a:off x="2281646" y="965926"/>
            <a:ext cx="1154974" cy="84654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A70DA8C3-D524-1CE1-C0EE-7D4162EB1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608" y="2314332"/>
            <a:ext cx="399219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Category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0 (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noise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-free):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>
                <a:latin typeface="Book Antiqua" panose="02040602050305030304" pitchFamily="18" charset="0"/>
              </a:rPr>
              <a:t>LOST </a:t>
            </a:r>
            <a:r>
              <a:rPr lang="it-IT" altLang="it-IT" sz="1600" dirty="0" err="1">
                <a:latin typeface="Book Antiqua" panose="02040602050305030304" pitchFamily="18" charset="0"/>
              </a:rPr>
              <a:t>achieves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perfect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localization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it-IT" altLang="it-IT" sz="1600" dirty="0">
              <a:latin typeface="Book Antiqua" panose="0204060205030503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Noisy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categories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(1–6):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>
                <a:latin typeface="Book Antiqua" panose="02040602050305030304" pitchFamily="18" charset="0"/>
              </a:rPr>
              <a:t>Match ratio </a:t>
            </a:r>
            <a:r>
              <a:rPr lang="it-IT" altLang="it-IT" sz="1600" dirty="0" err="1">
                <a:latin typeface="Book Antiqua" panose="02040602050305030304" pitchFamily="18" charset="0"/>
              </a:rPr>
              <a:t>decreases</a:t>
            </a:r>
            <a:r>
              <a:rPr lang="it-IT" altLang="it-IT" sz="1600" dirty="0">
                <a:latin typeface="Book Antiqua" panose="02040602050305030304" pitchFamily="18" charset="0"/>
              </a:rPr>
              <a:t> for </a:t>
            </a:r>
            <a:r>
              <a:rPr lang="it-IT" altLang="it-IT" sz="1600" dirty="0" err="1">
                <a:latin typeface="Book Antiqua" panose="02040602050305030304" pitchFamily="18" charset="0"/>
              </a:rPr>
              <a:t>both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methods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as</a:t>
            </a:r>
            <a:r>
              <a:rPr lang="it-IT" altLang="it-IT" sz="1600" dirty="0">
                <a:latin typeface="Book Antiqua" panose="02040602050305030304" pitchFamily="18" charset="0"/>
              </a:rPr>
              <a:t> star </a:t>
            </a:r>
            <a:r>
              <a:rPr lang="it-IT" altLang="it-IT" sz="1600" dirty="0" err="1">
                <a:latin typeface="Book Antiqua" panose="02040602050305030304" pitchFamily="18" charset="0"/>
              </a:rPr>
              <a:t>visibility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degrades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1600" dirty="0">
                <a:latin typeface="Book Antiqua" panose="02040602050305030304" pitchFamily="18" charset="0"/>
              </a:rPr>
              <a:t>The </a:t>
            </a:r>
            <a:r>
              <a:rPr lang="it-IT" altLang="it-IT" sz="1600" dirty="0" err="1">
                <a:latin typeface="Book Antiqua" panose="02040602050305030304" pitchFamily="18" charset="0"/>
              </a:rPr>
              <a:t>proposed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method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generally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achieves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b="1" dirty="0" err="1">
                <a:latin typeface="Book Antiqua" panose="02040602050305030304" pitchFamily="18" charset="0"/>
              </a:rPr>
              <a:t>equal</a:t>
            </a:r>
            <a:r>
              <a:rPr lang="it-IT" altLang="it-IT" sz="1600" b="1" dirty="0">
                <a:latin typeface="Book Antiqua" panose="02040602050305030304" pitchFamily="18" charset="0"/>
              </a:rPr>
              <a:t> or </a:t>
            </a:r>
            <a:r>
              <a:rPr lang="it-IT" altLang="it-IT" sz="1600" b="1" dirty="0" err="1">
                <a:latin typeface="Book Antiqua" panose="02040602050305030304" pitchFamily="18" charset="0"/>
              </a:rPr>
              <a:t>higher</a:t>
            </a:r>
            <a:r>
              <a:rPr lang="it-IT" altLang="it-IT" sz="1600" b="1" dirty="0">
                <a:latin typeface="Book Antiqua" panose="02040602050305030304" pitchFamily="18" charset="0"/>
              </a:rPr>
              <a:t> match </a:t>
            </a:r>
            <a:r>
              <a:rPr lang="it-IT" altLang="it-IT" sz="1600" b="1" dirty="0" err="1">
                <a:latin typeface="Book Antiqua" panose="02040602050305030304" pitchFamily="18" charset="0"/>
              </a:rPr>
              <a:t>ratios</a:t>
            </a:r>
            <a:r>
              <a:rPr lang="it-IT" altLang="it-IT" sz="1600" dirty="0">
                <a:latin typeface="Book Antiqua" panose="02040602050305030304" pitchFamily="18" charset="0"/>
              </a:rPr>
              <a:t> in </a:t>
            </a:r>
            <a:r>
              <a:rPr lang="it-IT" altLang="it-IT" sz="1600" dirty="0" err="1">
                <a:latin typeface="Book Antiqua" panose="02040602050305030304" pitchFamily="18" charset="0"/>
              </a:rPr>
              <a:t>noisy</a:t>
            </a:r>
            <a:r>
              <a:rPr lang="it-IT" altLang="it-IT" sz="1600" dirty="0">
                <a:latin typeface="Book Antiqua" panose="02040602050305030304" pitchFamily="18" charset="0"/>
              </a:rPr>
              <a:t> </a:t>
            </a:r>
            <a:r>
              <a:rPr lang="it-IT" altLang="it-IT" sz="1600" dirty="0" err="1">
                <a:latin typeface="Book Antiqua" panose="02040602050305030304" pitchFamily="18" charset="0"/>
              </a:rPr>
              <a:t>conditions</a:t>
            </a:r>
            <a:r>
              <a:rPr lang="it-IT" altLang="it-IT" sz="1600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600" dirty="0">
              <a:latin typeface="Book Antiqua" panose="02040602050305030304" pitchFamily="18" charset="0"/>
            </a:endParaRP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08C5FB91-CE6F-5737-16BD-AE72EEC24162}"/>
              </a:ext>
            </a:extLst>
          </p:cNvPr>
          <p:cNvCxnSpPr>
            <a:cxnSpLocks/>
          </p:cNvCxnSpPr>
          <p:nvPr/>
        </p:nvCxnSpPr>
        <p:spPr>
          <a:xfrm>
            <a:off x="3201091" y="2119743"/>
            <a:ext cx="0" cy="2842654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67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56E3B-D178-7F99-9536-55A25E090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640F54F2-61CF-31AE-E63F-8C11B24E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364" t="6824"/>
          <a:stretch>
            <a:fillRect/>
          </a:stretch>
        </p:blipFill>
        <p:spPr>
          <a:xfrm>
            <a:off x="7224022" y="1557948"/>
            <a:ext cx="4882193" cy="4210378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BA3F4525-45EF-C895-B603-4C6049F2256E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FDAE7BC-DD07-0FC6-8D5E-C8E7ADBA1B69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55F57F73-21F0-E140-E133-AFFD0949BB55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2B1F44EE-D017-6E9E-B299-30B799188310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55B704A1-9550-DED4-E87A-81611A8FF40C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D6E95708-3125-A4B2-0DC8-19CD4DB05CB2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37A86960-C807-564D-A2A7-DB30D653846F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4485AF15-7121-E92D-97B0-EEF824A3F848}"/>
              </a:ext>
            </a:extLst>
          </p:cNvPr>
          <p:cNvGrpSpPr/>
          <p:nvPr/>
        </p:nvGrpSpPr>
        <p:grpSpPr>
          <a:xfrm>
            <a:off x="-1303956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998C6462-AE26-383D-3A34-7CFA6AB47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7A26CAF8-B014-AE23-13F6-8F1CB4253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9576B635-F52F-8CB8-0EE6-EC1EEE5E9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F8F0B879-C178-5AFB-2CE7-456994BD4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305A6791-F3C5-ED9C-2CF9-1B2950F6E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287B9BFF-1D23-8F3F-5869-8E954CCA6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6D4959A-24E3-1B91-9F7C-510B4EBCFE23}"/>
              </a:ext>
            </a:extLst>
          </p:cNvPr>
          <p:cNvSpPr txBox="1"/>
          <p:nvPr/>
        </p:nvSpPr>
        <p:spPr>
          <a:xfrm>
            <a:off x="3332681" y="421662"/>
            <a:ext cx="6808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Final Results:</a:t>
            </a:r>
            <a:r>
              <a:rPr lang="en-US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</a:t>
            </a:r>
            <a:endParaRPr lang="en-US" sz="2800" b="1" u="sng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AB0D655-4F34-45EF-04A6-A10717BF9AA1}"/>
              </a:ext>
            </a:extLst>
          </p:cNvPr>
          <p:cNvCxnSpPr>
            <a:cxnSpLocks/>
          </p:cNvCxnSpPr>
          <p:nvPr/>
        </p:nvCxnSpPr>
        <p:spPr>
          <a:xfrm flipV="1">
            <a:off x="2281646" y="965926"/>
            <a:ext cx="1154974" cy="84654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B94F3613-DB8B-E331-A47B-72EA998AB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608" y="1775723"/>
            <a:ext cx="3992198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dirty="0" err="1">
                <a:latin typeface="Book Antiqua" panose="02040602050305030304" pitchFamily="18" charset="0"/>
              </a:rPr>
              <a:t>Measures</a:t>
            </a:r>
            <a:r>
              <a:rPr lang="it-IT" altLang="it-IT" dirty="0">
                <a:latin typeface="Book Antiqua" panose="02040602050305030304" pitchFamily="18" charset="0"/>
              </a:rPr>
              <a:t> the </a:t>
            </a:r>
            <a:r>
              <a:rPr lang="it-IT" altLang="it-IT" dirty="0" err="1">
                <a:latin typeface="Book Antiqua" panose="02040602050305030304" pitchFamily="18" charset="0"/>
              </a:rPr>
              <a:t>proportion</a:t>
            </a:r>
            <a:r>
              <a:rPr lang="it-IT" altLang="it-IT" dirty="0">
                <a:latin typeface="Book Antiqua" panose="02040602050305030304" pitchFamily="18" charset="0"/>
              </a:rPr>
              <a:t> of </a:t>
            </a:r>
            <a:r>
              <a:rPr lang="it-IT" altLang="it-IT" b="1" dirty="0" err="1">
                <a:latin typeface="Book Antiqua" panose="02040602050305030304" pitchFamily="18" charset="0"/>
              </a:rPr>
              <a:t>correct</a:t>
            </a:r>
            <a:r>
              <a:rPr lang="it-IT" altLang="it-IT" b="1" dirty="0">
                <a:latin typeface="Book Antiqua" panose="02040602050305030304" pitchFamily="18" charset="0"/>
              </a:rPr>
              <a:t> </a:t>
            </a:r>
            <a:r>
              <a:rPr lang="it-IT" altLang="it-IT" b="1" dirty="0" err="1">
                <a:latin typeface="Book Antiqua" panose="02040602050305030304" pitchFamily="18" charset="0"/>
              </a:rPr>
              <a:t>centroids</a:t>
            </a:r>
            <a:r>
              <a:rPr lang="it-IT" altLang="it-IT" b="1" dirty="0">
                <a:latin typeface="Book Antiqua" panose="02040602050305030304" pitchFamily="18" charset="0"/>
              </a:rPr>
              <a:t> </a:t>
            </a:r>
            <a:r>
              <a:rPr lang="it-IT" altLang="it-IT" b="1" dirty="0" err="1">
                <a:latin typeface="Book Antiqua" panose="02040602050305030304" pitchFamily="18" charset="0"/>
              </a:rPr>
              <a:t>among</a:t>
            </a:r>
            <a:r>
              <a:rPr lang="it-IT" altLang="it-IT" b="1" dirty="0">
                <a:latin typeface="Book Antiqua" panose="02040602050305030304" pitchFamily="18" charset="0"/>
              </a:rPr>
              <a:t> </a:t>
            </a:r>
            <a:r>
              <a:rPr lang="it-IT" altLang="it-IT" b="1" dirty="0" err="1">
                <a:latin typeface="Book Antiqua" panose="02040602050305030304" pitchFamily="18" charset="0"/>
              </a:rPr>
              <a:t>detected</a:t>
            </a:r>
            <a:r>
              <a:rPr lang="it-IT" altLang="it-IT" b="1" dirty="0">
                <a:latin typeface="Book Antiqua" panose="02040602050305030304" pitchFamily="18" charset="0"/>
              </a:rPr>
              <a:t> stars</a:t>
            </a:r>
            <a:r>
              <a:rPr lang="it-IT" altLang="it-IT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it-IT" altLang="it-IT" dirty="0">
              <a:latin typeface="Book Antiqua" panose="0204060205030503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b="1" dirty="0" err="1">
                <a:latin typeface="Book Antiqua" panose="02040602050305030304" pitchFamily="18" charset="0"/>
              </a:rPr>
              <a:t>Across</a:t>
            </a:r>
            <a:r>
              <a:rPr lang="it-IT" altLang="it-IT" b="1" dirty="0">
                <a:latin typeface="Book Antiqua" panose="02040602050305030304" pitchFamily="18" charset="0"/>
              </a:rPr>
              <a:t> </a:t>
            </a:r>
            <a:r>
              <a:rPr lang="it-IT" altLang="it-IT" b="1" dirty="0" err="1">
                <a:latin typeface="Book Antiqua" panose="02040602050305030304" pitchFamily="18" charset="0"/>
              </a:rPr>
              <a:t>most</a:t>
            </a:r>
            <a:r>
              <a:rPr lang="it-IT" altLang="it-IT" b="1" dirty="0">
                <a:latin typeface="Book Antiqua" panose="02040602050305030304" pitchFamily="18" charset="0"/>
              </a:rPr>
              <a:t> </a:t>
            </a:r>
            <a:r>
              <a:rPr lang="it-IT" altLang="it-IT" b="1" dirty="0" err="1">
                <a:latin typeface="Book Antiqua" panose="02040602050305030304" pitchFamily="18" charset="0"/>
              </a:rPr>
              <a:t>categories</a:t>
            </a:r>
            <a:r>
              <a:rPr lang="it-IT" altLang="it-IT" b="1" dirty="0">
                <a:latin typeface="Book Antiqua" panose="02040602050305030304" pitchFamily="18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it-IT" altLang="it-IT" dirty="0">
              <a:latin typeface="Book Antiqua" panose="0204060205030503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dirty="0">
                <a:latin typeface="Book Antiqua" panose="02040602050305030304" pitchFamily="18" charset="0"/>
              </a:rPr>
              <a:t>The </a:t>
            </a:r>
            <a:r>
              <a:rPr lang="it-IT" altLang="it-IT" dirty="0" err="1">
                <a:latin typeface="Book Antiqua" panose="02040602050305030304" pitchFamily="18" charset="0"/>
              </a:rPr>
              <a:t>proposed</a:t>
            </a:r>
            <a:r>
              <a:rPr lang="it-IT" altLang="it-IT" dirty="0">
                <a:latin typeface="Book Antiqua" panose="02040602050305030304" pitchFamily="18" charset="0"/>
              </a:rPr>
              <a:t> </a:t>
            </a:r>
            <a:r>
              <a:rPr lang="it-IT" altLang="it-IT" dirty="0" err="1">
                <a:latin typeface="Book Antiqua" panose="02040602050305030304" pitchFamily="18" charset="0"/>
              </a:rPr>
              <a:t>method</a:t>
            </a:r>
            <a:r>
              <a:rPr lang="it-IT" altLang="it-IT" dirty="0">
                <a:latin typeface="Book Antiqua" panose="02040602050305030304" pitchFamily="18" charset="0"/>
              </a:rPr>
              <a:t> shows </a:t>
            </a:r>
            <a:r>
              <a:rPr lang="it-IT" altLang="it-IT" b="1" dirty="0" err="1">
                <a:latin typeface="Book Antiqua" panose="02040602050305030304" pitchFamily="18" charset="0"/>
              </a:rPr>
              <a:t>higher</a:t>
            </a:r>
            <a:r>
              <a:rPr lang="it-IT" altLang="it-IT" b="1" dirty="0">
                <a:latin typeface="Book Antiqua" panose="02040602050305030304" pitchFamily="18" charset="0"/>
              </a:rPr>
              <a:t> and more </a:t>
            </a:r>
            <a:r>
              <a:rPr lang="it-IT" altLang="it-IT" b="1" dirty="0" err="1">
                <a:latin typeface="Book Antiqua" panose="02040602050305030304" pitchFamily="18" charset="0"/>
              </a:rPr>
              <a:t>stable</a:t>
            </a:r>
            <a:r>
              <a:rPr lang="it-IT" altLang="it-IT" b="1" dirty="0">
                <a:latin typeface="Book Antiqua" panose="02040602050305030304" pitchFamily="18" charset="0"/>
              </a:rPr>
              <a:t> relative </a:t>
            </a:r>
            <a:r>
              <a:rPr lang="it-IT" altLang="it-IT" b="1" dirty="0" err="1">
                <a:latin typeface="Book Antiqua" panose="02040602050305030304" pitchFamily="18" charset="0"/>
              </a:rPr>
              <a:t>ratios</a:t>
            </a:r>
            <a:r>
              <a:rPr lang="it-IT" altLang="it-IT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it-IT" altLang="it-IT" dirty="0">
              <a:latin typeface="Book Antiqua" panose="0204060205030503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Category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5 (</a:t>
            </a:r>
            <a:r>
              <a:rPr lang="it-IT" altLang="it-IT" sz="2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blur</a:t>
            </a:r>
            <a:r>
              <a:rPr lang="it-IT" altLang="it-IT" sz="2000" b="1" dirty="0">
                <a:solidFill>
                  <a:srgbClr val="002060"/>
                </a:solidFill>
                <a:latin typeface="Book Antiqua" panose="02040602050305030304" pitchFamily="18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dirty="0">
                <a:latin typeface="Book Antiqua" panose="02040602050305030304" pitchFamily="18" charset="0"/>
              </a:rPr>
              <a:t>LOST </a:t>
            </a:r>
            <a:r>
              <a:rPr lang="it-IT" altLang="it-IT" dirty="0" err="1">
                <a:latin typeface="Book Antiqua" panose="02040602050305030304" pitchFamily="18" charset="0"/>
              </a:rPr>
              <a:t>suffers</a:t>
            </a:r>
            <a:r>
              <a:rPr lang="it-IT" altLang="it-IT" dirty="0">
                <a:latin typeface="Book Antiqua" panose="02040602050305030304" pitchFamily="18" charset="0"/>
              </a:rPr>
              <a:t> a strong drop due to </a:t>
            </a:r>
            <a:r>
              <a:rPr lang="it-IT" altLang="it-IT" dirty="0" err="1">
                <a:latin typeface="Book Antiqua" panose="02040602050305030304" pitchFamily="18" charset="0"/>
              </a:rPr>
              <a:t>excessive</a:t>
            </a:r>
            <a:r>
              <a:rPr lang="it-IT" altLang="it-IT" dirty="0">
                <a:latin typeface="Book Antiqua" panose="02040602050305030304" pitchFamily="18" charset="0"/>
              </a:rPr>
              <a:t> false </a:t>
            </a:r>
            <a:r>
              <a:rPr lang="it-IT" altLang="it-IT" dirty="0" err="1">
                <a:latin typeface="Book Antiqua" panose="02040602050305030304" pitchFamily="18" charset="0"/>
              </a:rPr>
              <a:t>detections</a:t>
            </a:r>
            <a:r>
              <a:rPr lang="it-IT" altLang="it-IT" dirty="0">
                <a:latin typeface="Book Antiqua" panose="0204060205030503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600" dirty="0">
              <a:latin typeface="Book Antiqua" panose="02040602050305030304" pitchFamily="18" charset="0"/>
            </a:endParaRP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480A0991-8705-ED43-42B6-1C446ECB5CD2}"/>
              </a:ext>
            </a:extLst>
          </p:cNvPr>
          <p:cNvCxnSpPr>
            <a:cxnSpLocks/>
          </p:cNvCxnSpPr>
          <p:nvPr/>
        </p:nvCxnSpPr>
        <p:spPr>
          <a:xfrm flipH="1">
            <a:off x="3173088" y="1856507"/>
            <a:ext cx="28003" cy="3531491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104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2B6A7-25E8-0F34-6D76-FE425740B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1F6AAA6-06D4-B54C-57A8-434177A3C75C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34EE6E76-0B88-AA03-A80D-C5A3CBEB9FC3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B5C18A9B-A0E8-EA2E-AF5B-828E64C026AB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  <a:solidFill>
            <a:schemeClr val="accent1">
              <a:lumMod val="50000"/>
            </a:schemeClr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3D32AEBF-6A1A-28A0-A509-1D31CEB6FDBA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2060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8000128E-93BA-5C60-2803-CC5DE73DEEBE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2060"/>
                </a:solidFill>
              </a:endParaRPr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85D24142-B1F5-6792-08C5-BFF88CABAD3C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Andreea Pollastri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0C39F9D7-44C9-45F8-13C1-DFC2E2B29B6E}"/>
              </a:ext>
            </a:extLst>
          </p:cNvPr>
          <p:cNvSpPr txBox="1"/>
          <p:nvPr/>
        </p:nvSpPr>
        <p:spPr>
          <a:xfrm>
            <a:off x="4468978" y="4092894"/>
            <a:ext cx="18207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LOST</a:t>
            </a:r>
            <a:endParaRPr lang="it-IT" sz="1050" b="1" dirty="0">
              <a:solidFill>
                <a:srgbClr val="002060"/>
              </a:solidFill>
            </a:endParaRP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6AC52469-4047-04DB-C002-DBF2BC0A4DED}"/>
              </a:ext>
            </a:extLst>
          </p:cNvPr>
          <p:cNvSpPr txBox="1"/>
          <p:nvPr/>
        </p:nvSpPr>
        <p:spPr>
          <a:xfrm>
            <a:off x="3540753" y="1354109"/>
            <a:ext cx="19393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Final Results</a:t>
            </a:r>
            <a:endParaRPr lang="it-IT" sz="1050" b="1" dirty="0">
              <a:solidFill>
                <a:srgbClr val="002060"/>
              </a:solidFill>
            </a:endParaRP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8994553F-246F-BD7B-30B5-100B89A611EF}"/>
              </a:ext>
            </a:extLst>
          </p:cNvPr>
          <p:cNvSpPr txBox="1"/>
          <p:nvPr/>
        </p:nvSpPr>
        <p:spPr>
          <a:xfrm>
            <a:off x="-300537" y="1546410"/>
            <a:ext cx="19393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Centroid Localization</a:t>
            </a:r>
            <a:endParaRPr lang="it-IT" sz="1050" b="1" dirty="0">
              <a:solidFill>
                <a:srgbClr val="002060"/>
              </a:solidFill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66309AAD-1D4C-B8AE-6D98-B636980B2D62}"/>
              </a:ext>
            </a:extLst>
          </p:cNvPr>
          <p:cNvSpPr txBox="1"/>
          <p:nvPr/>
        </p:nvSpPr>
        <p:spPr>
          <a:xfrm>
            <a:off x="-300537" y="5176879"/>
            <a:ext cx="19393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Dataset Structure</a:t>
            </a:r>
            <a:endParaRPr lang="it-IT" sz="1050" b="1" dirty="0">
              <a:solidFill>
                <a:srgbClr val="002060"/>
              </a:solidFill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98EA5E1C-F7E1-F2A8-4757-310003EA33FC}"/>
              </a:ext>
            </a:extLst>
          </p:cNvPr>
          <p:cNvSpPr txBox="1"/>
          <p:nvPr/>
        </p:nvSpPr>
        <p:spPr>
          <a:xfrm>
            <a:off x="2153294" y="5799519"/>
            <a:ext cx="19393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Star Detection</a:t>
            </a:r>
            <a:endParaRPr lang="it-IT" sz="1050" b="1" dirty="0">
              <a:solidFill>
                <a:srgbClr val="002060"/>
              </a:solidFill>
            </a:endParaRPr>
          </a:p>
        </p:txBody>
      </p:sp>
      <p:cxnSp>
        <p:nvCxnSpPr>
          <p:cNvPr id="55" name="Connettore diritto 54">
            <a:extLst>
              <a:ext uri="{FF2B5EF4-FFF2-40B4-BE49-F238E27FC236}">
                <a16:creationId xmlns:a16="http://schemas.microsoft.com/office/drawing/2014/main" id="{1CF0572A-EF91-08DD-3A5F-A4893A0992D7}"/>
              </a:ext>
            </a:extLst>
          </p:cNvPr>
          <p:cNvCxnSpPr>
            <a:stCxn id="50" idx="2"/>
          </p:cNvCxnSpPr>
          <p:nvPr/>
        </p:nvCxnSpPr>
        <p:spPr>
          <a:xfrm>
            <a:off x="669137" y="1800326"/>
            <a:ext cx="270725" cy="32598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diritto 55">
            <a:extLst>
              <a:ext uri="{FF2B5EF4-FFF2-40B4-BE49-F238E27FC236}">
                <a16:creationId xmlns:a16="http://schemas.microsoft.com/office/drawing/2014/main" id="{8AC1351D-7132-3481-3760-2421556FD2F0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4262080" y="1608025"/>
            <a:ext cx="248347" cy="27841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diritto 58">
            <a:extLst>
              <a:ext uri="{FF2B5EF4-FFF2-40B4-BE49-F238E27FC236}">
                <a16:creationId xmlns:a16="http://schemas.microsoft.com/office/drawing/2014/main" id="{DC18601D-765E-D289-8179-A21569EEB55C}"/>
              </a:ext>
            </a:extLst>
          </p:cNvPr>
          <p:cNvCxnSpPr>
            <a:cxnSpLocks/>
          </p:cNvCxnSpPr>
          <p:nvPr/>
        </p:nvCxnSpPr>
        <p:spPr>
          <a:xfrm>
            <a:off x="4934527" y="3936696"/>
            <a:ext cx="515491" cy="14020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diritto 59">
            <a:extLst>
              <a:ext uri="{FF2B5EF4-FFF2-40B4-BE49-F238E27FC236}">
                <a16:creationId xmlns:a16="http://schemas.microsoft.com/office/drawing/2014/main" id="{16DD8510-7AF6-4846-603F-4B99FEED865D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669137" y="4965954"/>
            <a:ext cx="349766" cy="210925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diritto 61">
            <a:extLst>
              <a:ext uri="{FF2B5EF4-FFF2-40B4-BE49-F238E27FC236}">
                <a16:creationId xmlns:a16="http://schemas.microsoft.com/office/drawing/2014/main" id="{25089F3C-7A92-6CA9-989E-E3FF091672C8}"/>
              </a:ext>
            </a:extLst>
          </p:cNvPr>
          <p:cNvCxnSpPr>
            <a:cxnSpLocks/>
            <a:endCxn id="52" idx="0"/>
          </p:cNvCxnSpPr>
          <p:nvPr/>
        </p:nvCxnSpPr>
        <p:spPr>
          <a:xfrm flipH="1">
            <a:off x="3122968" y="5592016"/>
            <a:ext cx="264499" cy="20750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tangolo 14">
            <a:extLst>
              <a:ext uri="{FF2B5EF4-FFF2-40B4-BE49-F238E27FC236}">
                <a16:creationId xmlns:a16="http://schemas.microsoft.com/office/drawing/2014/main" id="{F2DEBB00-FCEC-3178-759F-195D82C880A7}"/>
              </a:ext>
            </a:extLst>
          </p:cNvPr>
          <p:cNvSpPr/>
          <p:nvPr/>
        </p:nvSpPr>
        <p:spPr>
          <a:xfrm>
            <a:off x="5040873" y="2857858"/>
            <a:ext cx="7148167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Thanks</a:t>
            </a:r>
            <a:endParaRPr lang="en-US" sz="2000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19" name="Gruppo 118">
            <a:extLst>
              <a:ext uri="{FF2B5EF4-FFF2-40B4-BE49-F238E27FC236}">
                <a16:creationId xmlns:a16="http://schemas.microsoft.com/office/drawing/2014/main" id="{CE10F2F3-49D4-C277-D14F-4E7B8D4B0E8A}"/>
              </a:ext>
            </a:extLst>
          </p:cNvPr>
          <p:cNvGrpSpPr/>
          <p:nvPr/>
        </p:nvGrpSpPr>
        <p:grpSpPr>
          <a:xfrm>
            <a:off x="615159" y="1357282"/>
            <a:ext cx="4247407" cy="4316827"/>
            <a:chOff x="615159" y="1357282"/>
            <a:chExt cx="4247407" cy="4316827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4BF11A02-05C4-C7EF-ECDB-76668E272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10" t="19227" r="221" b="30019"/>
            <a:stretch>
              <a:fillRect/>
            </a:stretch>
          </p:blipFill>
          <p:spPr>
            <a:xfrm rot="1720590">
              <a:off x="2434486" y="1651092"/>
              <a:ext cx="2397255" cy="1294110"/>
            </a:xfrm>
            <a:custGeom>
              <a:avLst/>
              <a:gdLst>
                <a:gd name="csX0" fmla="*/ 0 w 2397255"/>
                <a:gd name="csY0" fmla="*/ 230041 h 1294110"/>
                <a:gd name="csX1" fmla="*/ 78039 w 2397255"/>
                <a:gd name="csY1" fmla="*/ 191123 h 1294110"/>
                <a:gd name="csX2" fmla="*/ 2308399 w 2397255"/>
                <a:gd name="csY2" fmla="*/ 467711 h 1294110"/>
                <a:gd name="csX3" fmla="*/ 2397255 w 2397255"/>
                <a:gd name="csY3" fmla="*/ 545555 h 1294110"/>
                <a:gd name="csX4" fmla="*/ 1688615 w 2397255"/>
                <a:gd name="csY4" fmla="*/ 1294110 h 1294110"/>
                <a:gd name="csX5" fmla="*/ 1682817 w 2397255"/>
                <a:gd name="csY5" fmla="*/ 1289030 h 1294110"/>
                <a:gd name="csX6" fmla="*/ 643494 w 2397255"/>
                <a:gd name="csY6" fmla="*/ 1119840 h 1294110"/>
                <a:gd name="csX7" fmla="*/ 517792 w 2397255"/>
                <a:gd name="csY7" fmla="*/ 1176729 h 1294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97255" h="1294110">
                  <a:moveTo>
                    <a:pt x="0" y="230041"/>
                  </a:moveTo>
                  <a:lnTo>
                    <a:pt x="78039" y="191123"/>
                  </a:lnTo>
                  <a:cubicBezTo>
                    <a:pt x="829913" y="-148761"/>
                    <a:pt x="1689927" y="-22428"/>
                    <a:pt x="2308399" y="467711"/>
                  </a:cubicBezTo>
                  <a:lnTo>
                    <a:pt x="2397255" y="545555"/>
                  </a:lnTo>
                  <a:lnTo>
                    <a:pt x="1688615" y="1294110"/>
                  </a:lnTo>
                  <a:lnTo>
                    <a:pt x="1682817" y="1289030"/>
                  </a:lnTo>
                  <a:cubicBezTo>
                    <a:pt x="1394197" y="1060298"/>
                    <a:pt x="1000372" y="990025"/>
                    <a:pt x="643494" y="1119840"/>
                  </a:cubicBezTo>
                  <a:lnTo>
                    <a:pt x="517792" y="1176729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6B60C4B8-2AF4-7C0C-492F-26D2B6DBF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29" r="5249" b="13217"/>
            <a:stretch>
              <a:fillRect/>
            </a:stretch>
          </p:blipFill>
          <p:spPr>
            <a:xfrm rot="15200825">
              <a:off x="48602" y="3335486"/>
              <a:ext cx="2423156" cy="1290041"/>
            </a:xfrm>
            <a:custGeom>
              <a:avLst/>
              <a:gdLst>
                <a:gd name="csX0" fmla="*/ 2423156 w 2423156"/>
                <a:gd name="csY0" fmla="*/ 349774 h 1290041"/>
                <a:gd name="csX1" fmla="*/ 1779366 w 2423156"/>
                <a:gd name="csY1" fmla="*/ 1281233 h 1290041"/>
                <a:gd name="csX2" fmla="*/ 1717942 w 2423156"/>
                <a:gd name="csY2" fmla="*/ 1246783 h 1290041"/>
                <a:gd name="csX3" fmla="*/ 1539616 w 2423156"/>
                <a:gd name="csY3" fmla="*/ 1175835 h 1290041"/>
                <a:gd name="csX4" fmla="*/ 717320 w 2423156"/>
                <a:gd name="csY4" fmla="*/ 1260043 h 1290041"/>
                <a:gd name="csX5" fmla="*/ 667554 w 2423156"/>
                <a:gd name="csY5" fmla="*/ 1290041 h 1290041"/>
                <a:gd name="csX6" fmla="*/ 0 w 2423156"/>
                <a:gd name="csY6" fmla="*/ 414773 h 1290041"/>
                <a:gd name="csX7" fmla="*/ 0 w 2423156"/>
                <a:gd name="csY7" fmla="*/ 397692 h 1290041"/>
                <a:gd name="csX8" fmla="*/ 41950 w 2423156"/>
                <a:gd name="csY8" fmla="*/ 366585 h 1290041"/>
                <a:gd name="csX9" fmla="*/ 1864062 w 2423156"/>
                <a:gd name="csY9" fmla="*/ 91162 h 1290041"/>
                <a:gd name="csX10" fmla="*/ 2418311 w 2423156"/>
                <a:gd name="csY10" fmla="*/ 346316 h 1290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3156" h="1290041">
                  <a:moveTo>
                    <a:pt x="2423156" y="349774"/>
                  </a:moveTo>
                  <a:lnTo>
                    <a:pt x="1779366" y="1281233"/>
                  </a:lnTo>
                  <a:lnTo>
                    <a:pt x="1717942" y="1246783"/>
                  </a:lnTo>
                  <a:cubicBezTo>
                    <a:pt x="1661669" y="1218381"/>
                    <a:pt x="1602118" y="1194530"/>
                    <a:pt x="1539616" y="1175835"/>
                  </a:cubicBezTo>
                  <a:cubicBezTo>
                    <a:pt x="1253891" y="1090369"/>
                    <a:pt x="960573" y="1128807"/>
                    <a:pt x="717320" y="1260043"/>
                  </a:cubicBezTo>
                  <a:lnTo>
                    <a:pt x="667554" y="1290041"/>
                  </a:lnTo>
                  <a:lnTo>
                    <a:pt x="0" y="414773"/>
                  </a:lnTo>
                  <a:lnTo>
                    <a:pt x="0" y="397692"/>
                  </a:lnTo>
                  <a:lnTo>
                    <a:pt x="41950" y="366585"/>
                  </a:lnTo>
                  <a:cubicBezTo>
                    <a:pt x="559080" y="20199"/>
                    <a:pt x="1221180" y="-101136"/>
                    <a:pt x="1864062" y="91162"/>
                  </a:cubicBezTo>
                  <a:cubicBezTo>
                    <a:pt x="2064962" y="151255"/>
                    <a:pt x="2250613" y="237977"/>
                    <a:pt x="2418311" y="346316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B31E0FBE-6FBB-5E4D-DB2E-20FFCF6B5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4" t="20198" r="1491" b="14995"/>
            <a:stretch>
              <a:fillRect/>
            </a:stretch>
          </p:blipFill>
          <p:spPr>
            <a:xfrm>
              <a:off x="675979" y="1357282"/>
              <a:ext cx="1963801" cy="1762143"/>
            </a:xfrm>
            <a:custGeom>
              <a:avLst/>
              <a:gdLst>
                <a:gd name="csX0" fmla="*/ 1963801 w 1963801"/>
                <a:gd name="csY0" fmla="*/ 0 h 1762143"/>
                <a:gd name="csX1" fmla="*/ 1963801 w 1963801"/>
                <a:gd name="csY1" fmla="*/ 1083095 h 1762143"/>
                <a:gd name="csX2" fmla="*/ 1861087 w 1963801"/>
                <a:gd name="csY2" fmla="*/ 1098771 h 1762143"/>
                <a:gd name="csX3" fmla="*/ 1141833 w 1963801"/>
                <a:gd name="csY3" fmla="*/ 1619252 h 1762143"/>
                <a:gd name="csX4" fmla="*/ 1075171 w 1963801"/>
                <a:gd name="csY4" fmla="*/ 1762143 h 1762143"/>
                <a:gd name="csX5" fmla="*/ 0 w 1963801"/>
                <a:gd name="csY5" fmla="*/ 1412842 h 1762143"/>
                <a:gd name="csX6" fmla="*/ 16413 w 1963801"/>
                <a:gd name="csY6" fmla="*/ 1364812 h 1762143"/>
                <a:gd name="csX7" fmla="*/ 1805741 w 1963801"/>
                <a:gd name="csY7" fmla="*/ 7981 h 1762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63801" h="1762143">
                  <a:moveTo>
                    <a:pt x="1963801" y="0"/>
                  </a:moveTo>
                  <a:lnTo>
                    <a:pt x="1963801" y="1083095"/>
                  </a:lnTo>
                  <a:lnTo>
                    <a:pt x="1861087" y="1098771"/>
                  </a:lnTo>
                  <a:cubicBezTo>
                    <a:pt x="1553501" y="1161712"/>
                    <a:pt x="1293545" y="1355410"/>
                    <a:pt x="1141833" y="1619252"/>
                  </a:cubicBezTo>
                  <a:lnTo>
                    <a:pt x="1075171" y="1762143"/>
                  </a:lnTo>
                  <a:lnTo>
                    <a:pt x="0" y="1412842"/>
                  </a:lnTo>
                  <a:lnTo>
                    <a:pt x="16413" y="1364812"/>
                  </a:lnTo>
                  <a:cubicBezTo>
                    <a:pt x="306520" y="629102"/>
                    <a:pt x="988846" y="90941"/>
                    <a:pt x="1805741" y="7981"/>
                  </a:cubicBez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D2225F43-5614-2B75-9639-E692F84BB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" t="12006" r="69128" b="73020"/>
            <a:stretch>
              <a:fillRect/>
            </a:stretch>
          </p:blipFill>
          <p:spPr>
            <a:xfrm>
              <a:off x="1492326" y="4405331"/>
              <a:ext cx="2430277" cy="1268778"/>
            </a:xfrm>
            <a:custGeom>
              <a:avLst/>
              <a:gdLst>
                <a:gd name="csX0" fmla="*/ 652767 w 2430277"/>
                <a:gd name="csY0" fmla="*/ 0 h 1268778"/>
                <a:gd name="csX1" fmla="*/ 658560 w 2430277"/>
                <a:gd name="csY1" fmla="*/ 4331 h 1268778"/>
                <a:gd name="csX2" fmla="*/ 1262398 w 2430277"/>
                <a:gd name="csY2" fmla="*/ 188778 h 1268778"/>
                <a:gd name="csX3" fmla="*/ 1777190 w 2430277"/>
                <a:gd name="csY3" fmla="*/ 58428 h 1268778"/>
                <a:gd name="csX4" fmla="*/ 1810568 w 2430277"/>
                <a:gd name="csY4" fmla="*/ 38151 h 1268778"/>
                <a:gd name="csX5" fmla="*/ 2430277 w 2430277"/>
                <a:gd name="csY5" fmla="*/ 890642 h 1268778"/>
                <a:gd name="csX6" fmla="*/ 2417918 w 2430277"/>
                <a:gd name="csY6" fmla="*/ 899884 h 1268778"/>
                <a:gd name="csX7" fmla="*/ 1210241 w 2430277"/>
                <a:gd name="csY7" fmla="*/ 1268778 h 1268778"/>
                <a:gd name="csX8" fmla="*/ 2565 w 2430277"/>
                <a:gd name="csY8" fmla="*/ 899884 h 1268778"/>
                <a:gd name="csX9" fmla="*/ 0 w 2430277"/>
                <a:gd name="csY9" fmla="*/ 897967 h 1268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0277" h="1268778">
                  <a:moveTo>
                    <a:pt x="652767" y="0"/>
                  </a:moveTo>
                  <a:lnTo>
                    <a:pt x="658560" y="4331"/>
                  </a:lnTo>
                  <a:cubicBezTo>
                    <a:pt x="830929" y="120782"/>
                    <a:pt x="1038723" y="188778"/>
                    <a:pt x="1262398" y="188778"/>
                  </a:cubicBezTo>
                  <a:cubicBezTo>
                    <a:pt x="1448794" y="188778"/>
                    <a:pt x="1624162" y="141558"/>
                    <a:pt x="1777190" y="58428"/>
                  </a:cubicBezTo>
                  <a:lnTo>
                    <a:pt x="1810568" y="38151"/>
                  </a:lnTo>
                  <a:lnTo>
                    <a:pt x="2430277" y="890642"/>
                  </a:lnTo>
                  <a:lnTo>
                    <a:pt x="2417918" y="899884"/>
                  </a:lnTo>
                  <a:cubicBezTo>
                    <a:pt x="2073179" y="1132785"/>
                    <a:pt x="1657592" y="1268778"/>
                    <a:pt x="1210241" y="1268778"/>
                  </a:cubicBezTo>
                  <a:cubicBezTo>
                    <a:pt x="762891" y="1268778"/>
                    <a:pt x="347303" y="1132785"/>
                    <a:pt x="2565" y="899884"/>
                  </a:cubicBezTo>
                  <a:lnTo>
                    <a:pt x="0" y="89796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5" name="Immagine 94">
              <a:extLst>
                <a:ext uri="{FF2B5EF4-FFF2-40B4-BE49-F238E27FC236}">
                  <a16:creationId xmlns:a16="http://schemas.microsoft.com/office/drawing/2014/main" id="{2E26D171-D18D-C304-A1C3-1ED89E2F8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74" t="12996" r="31434" b="5819"/>
            <a:stretch>
              <a:fillRect/>
            </a:stretch>
          </p:blipFill>
          <p:spPr>
            <a:xfrm>
              <a:off x="3420170" y="2919053"/>
              <a:ext cx="1442396" cy="2291972"/>
            </a:xfrm>
            <a:custGeom>
              <a:avLst/>
              <a:gdLst>
                <a:gd name="csX0" fmla="*/ 1357439 w 1442396"/>
                <a:gd name="csY0" fmla="*/ 0 h 2291972"/>
                <a:gd name="csX1" fmla="*/ 1398513 w 1442396"/>
                <a:gd name="csY1" fmla="*/ 159741 h 2291972"/>
                <a:gd name="csX2" fmla="*/ 1442396 w 1442396"/>
                <a:gd name="csY2" fmla="*/ 595056 h 2291972"/>
                <a:gd name="csX3" fmla="*/ 656357 w 1442396"/>
                <a:gd name="csY3" fmla="*/ 2261817 h 2291972"/>
                <a:gd name="csX4" fmla="*/ 616031 w 1442396"/>
                <a:gd name="csY4" fmla="*/ 2291972 h 2291972"/>
                <a:gd name="csX5" fmla="*/ 0 w 1442396"/>
                <a:gd name="csY5" fmla="*/ 1444540 h 2291972"/>
                <a:gd name="csX6" fmla="*/ 21534 w 1442396"/>
                <a:gd name="csY6" fmla="*/ 1428437 h 2291972"/>
                <a:gd name="csX7" fmla="*/ 414553 w 1442396"/>
                <a:gd name="csY7" fmla="*/ 595056 h 2291972"/>
                <a:gd name="csX8" fmla="*/ 392611 w 1442396"/>
                <a:gd name="csY8" fmla="*/ 377398 h 2291972"/>
                <a:gd name="csX9" fmla="*/ 376964 w 1442396"/>
                <a:gd name="csY9" fmla="*/ 316544 h 229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42396" h="2291972">
                  <a:moveTo>
                    <a:pt x="1357439" y="0"/>
                  </a:moveTo>
                  <a:lnTo>
                    <a:pt x="1398513" y="159741"/>
                  </a:lnTo>
                  <a:cubicBezTo>
                    <a:pt x="1427286" y="300352"/>
                    <a:pt x="1442396" y="445939"/>
                    <a:pt x="1442396" y="595056"/>
                  </a:cubicBezTo>
                  <a:cubicBezTo>
                    <a:pt x="1442396" y="1266082"/>
                    <a:pt x="1136411" y="1865641"/>
                    <a:pt x="656357" y="2261817"/>
                  </a:cubicBezTo>
                  <a:lnTo>
                    <a:pt x="616031" y="2291972"/>
                  </a:lnTo>
                  <a:lnTo>
                    <a:pt x="0" y="1444540"/>
                  </a:lnTo>
                  <a:lnTo>
                    <a:pt x="21534" y="1428437"/>
                  </a:lnTo>
                  <a:cubicBezTo>
                    <a:pt x="261561" y="1230349"/>
                    <a:pt x="414553" y="930569"/>
                    <a:pt x="414553" y="595056"/>
                  </a:cubicBezTo>
                  <a:cubicBezTo>
                    <a:pt x="414553" y="520498"/>
                    <a:pt x="406998" y="447704"/>
                    <a:pt x="392611" y="377398"/>
                  </a:cubicBezTo>
                  <a:lnTo>
                    <a:pt x="376964" y="316544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</p:pic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DDC9D1B6-5E1D-DC11-0B7C-09ADE7DD7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271" y="2621856"/>
              <a:ext cx="1800000" cy="1803360"/>
            </a:xfrm>
            <a:prstGeom prst="ellipse">
              <a:avLst/>
            </a:prstGeom>
            <a:ln w="12700">
              <a:solidFill>
                <a:srgbClr val="002060"/>
              </a:solidFill>
            </a:ln>
          </p:spPr>
        </p:pic>
      </p:grpSp>
      <p:sp>
        <p:nvSpPr>
          <p:cNvPr id="2" name="Rettangolo 1">
            <a:extLst>
              <a:ext uri="{FF2B5EF4-FFF2-40B4-BE49-F238E27FC236}">
                <a16:creationId xmlns:a16="http://schemas.microsoft.com/office/drawing/2014/main" id="{7A387732-1C6F-35B4-B06E-EB6BF523C407}"/>
              </a:ext>
            </a:extLst>
          </p:cNvPr>
          <p:cNvSpPr/>
          <p:nvPr/>
        </p:nvSpPr>
        <p:spPr>
          <a:xfrm>
            <a:off x="9760362" y="0"/>
            <a:ext cx="243163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Star Detection and Centroid Localization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33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2188</Words>
  <Application>Microsoft Office PowerPoint</Application>
  <PresentationFormat>Widescreen</PresentationFormat>
  <Paragraphs>485</Paragraphs>
  <Slides>38</Slides>
  <Notes>38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38</vt:i4>
      </vt:variant>
    </vt:vector>
  </HeadingPairs>
  <TitlesOfParts>
    <vt:vector size="45" baseType="lpstr">
      <vt:lpstr>Arial</vt:lpstr>
      <vt:lpstr>Book Antiqua</vt:lpstr>
      <vt:lpstr>Calibri</vt:lpstr>
      <vt:lpstr>Calibri Light</vt:lpstr>
      <vt:lpstr>Cambria Math</vt:lpstr>
      <vt:lpstr>Consolas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Francavilla</dc:creator>
  <cp:lastModifiedBy>Sara Francavilla</cp:lastModifiedBy>
  <cp:revision>9</cp:revision>
  <dcterms:created xsi:type="dcterms:W3CDTF">2025-03-09T16:40:41Z</dcterms:created>
  <dcterms:modified xsi:type="dcterms:W3CDTF">2026-02-13T09:01:50Z</dcterms:modified>
</cp:coreProperties>
</file>